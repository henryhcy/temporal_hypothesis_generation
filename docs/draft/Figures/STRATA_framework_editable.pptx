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745236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Relationship Id="rId12" Type="http://schemas.openxmlformats.org/officeDocument/2006/relationships/image" Target="../media/image11.png"/><Relationship Id="rId13" Type="http://schemas.openxmlformats.org/officeDocument/2006/relationships/image" Target="../media/image12.png"/><Relationship Id="rId14" Type="http://schemas.openxmlformats.org/officeDocument/2006/relationships/image" Target="../media/image13.png"/><Relationship Id="rId15" Type="http://schemas.openxmlformats.org/officeDocument/2006/relationships/image" Target="../media/image14.png"/><Relationship Id="rId16" Type="http://schemas.openxmlformats.org/officeDocument/2006/relationships/image" Target="../media/image15.png"/><Relationship Id="rId17" Type="http://schemas.openxmlformats.org/officeDocument/2006/relationships/image" Target="../media/image16.png"/><Relationship Id="rId18" Type="http://schemas.openxmlformats.org/officeDocument/2006/relationships/image" Target="../media/image17.png"/><Relationship Id="rId19" Type="http://schemas.openxmlformats.org/officeDocument/2006/relationships/image" Target="../media/image18.png"/><Relationship Id="rId20" Type="http://schemas.openxmlformats.org/officeDocument/2006/relationships/image" Target="../media/image19.png"/><Relationship Id="rId21" Type="http://schemas.openxmlformats.org/officeDocument/2006/relationships/image" Target="../media/image20.png"/><Relationship Id="rId22" Type="http://schemas.openxmlformats.org/officeDocument/2006/relationships/image" Target="../media/image21.png"/><Relationship Id="rId23" Type="http://schemas.openxmlformats.org/officeDocument/2006/relationships/image" Target="../media/image22.png"/><Relationship Id="rId24" Type="http://schemas.openxmlformats.org/officeDocument/2006/relationships/image" Target="../media/image23.png"/><Relationship Id="rId25" Type="http://schemas.openxmlformats.org/officeDocument/2006/relationships/image" Target="../media/image2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09728" y="91440"/>
            <a:ext cx="11972239" cy="3017520"/>
          </a:xfrm>
          <a:prstGeom prst="roundRect">
            <a:avLst>
              <a:gd name="adj" fmla="val 3000"/>
            </a:avLst>
          </a:prstGeom>
          <a:solidFill>
            <a:srgbClr val="E7EC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Oval 2"/>
          <p:cNvSpPr/>
          <p:nvPr/>
        </p:nvSpPr>
        <p:spPr>
          <a:xfrm>
            <a:off x="237744" y="155448"/>
            <a:ext cx="420624" cy="420624"/>
          </a:xfrm>
          <a:prstGeom prst="ellipse">
            <a:avLst/>
          </a:prstGeom>
          <a:solidFill>
            <a:srgbClr val="A052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Verdana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"/>
            <a:ext cx="6400800" cy="4754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A0522D"/>
                </a:solidFill>
                <a:latin typeface="Verdana"/>
              </a:rPr>
              <a:t>STRATA Benchmark Construction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19456" y="676656"/>
            <a:ext cx="2834640" cy="23408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B8BE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ounded Rectangle 5"/>
          <p:cNvSpPr/>
          <p:nvPr/>
        </p:nvSpPr>
        <p:spPr>
          <a:xfrm>
            <a:off x="292608" y="749808"/>
            <a:ext cx="457200" cy="237744"/>
          </a:xfrm>
          <a:prstGeom prst="roundRect">
            <a:avLst>
              <a:gd name="adj" fmla="val 30000"/>
            </a:avLst>
          </a:prstGeom>
          <a:solidFill>
            <a:srgbClr val="4F6B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Verdana"/>
              </a:rPr>
              <a:t>1.1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" y="713232"/>
            <a:ext cx="2212848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2B2B2B"/>
                </a:solidFill>
                <a:latin typeface="Verdana"/>
              </a:rPr>
              <a:t>Annotated timelines</a:t>
            </a:r>
            <a:r>
              <a:rPr sz="900" b="0" i="0">
                <a:solidFill>
                  <a:srgbClr val="5F5F5F"/>
                </a:solidFill>
                <a:latin typeface="Verdana"/>
              </a:rPr>
              <a:t> (MedTempo)</a:t>
            </a:r>
          </a:p>
        </p:txBody>
      </p:sp>
      <p:pic>
        <p:nvPicPr>
          <p:cNvPr id="8" name="Picture 7" descr="clipboard-plus_A0522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896" y="1115568"/>
            <a:ext cx="420624" cy="420624"/>
          </a:xfrm>
          <a:prstGeom prst="rect">
            <a:avLst/>
          </a:prstGeom>
        </p:spPr>
      </p:pic>
      <p:pic>
        <p:nvPicPr>
          <p:cNvPr id="9" name="Picture 8" descr="file-text_4F6B7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" y="1115568"/>
            <a:ext cx="420624" cy="4206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74320" y="1609344"/>
            <a:ext cx="1280160" cy="137160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2B2B2B"/>
                </a:solidFill>
                <a:latin typeface="Verdana"/>
              </a:rPr>
              <a:t>3,166 VAERS reports, three vaccines, expert-annotated as a leveled order of events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572768" y="1078992"/>
            <a:ext cx="1408176" cy="1847088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1609344" y="1106424"/>
            <a:ext cx="1353312" cy="45720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2B2B2B"/>
                </a:solidFill>
                <a:latin typeface="Verdana"/>
              </a:rPr>
              <a:t>Example timeline</a:t>
            </a:r>
          </a:p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F5F5F"/>
                </a:solidFill>
                <a:latin typeface="Verdana"/>
              </a:rPr>
              <a:t>report MT-0482913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700784" y="1728216"/>
            <a:ext cx="1152144" cy="0"/>
          </a:xfrm>
          <a:prstGeom prst="line">
            <a:avLst/>
          </a:prstGeom>
          <a:ln w="22225">
            <a:solidFill>
              <a:srgbClr val="4F6B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Oval 13"/>
          <p:cNvSpPr/>
          <p:nvPr/>
        </p:nvSpPr>
        <p:spPr>
          <a:xfrm>
            <a:off x="1709928" y="1664207"/>
            <a:ext cx="128016" cy="128016"/>
          </a:xfrm>
          <a:prstGeom prst="ellipse">
            <a:avLst/>
          </a:prstGeom>
          <a:solidFill>
            <a:srgbClr val="4F6B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Verdana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08176" y="1801368"/>
            <a:ext cx="731520" cy="20116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1" i="0">
                <a:solidFill>
                  <a:srgbClr val="4F6B75"/>
                </a:solidFill>
                <a:latin typeface="Verdana"/>
              </a:rPr>
              <a:t>Fever</a:t>
            </a:r>
          </a:p>
        </p:txBody>
      </p:sp>
      <p:sp>
        <p:nvSpPr>
          <p:cNvPr id="16" name="Oval 15"/>
          <p:cNvSpPr/>
          <p:nvPr/>
        </p:nvSpPr>
        <p:spPr>
          <a:xfrm>
            <a:off x="2212848" y="1664207"/>
            <a:ext cx="128016" cy="128016"/>
          </a:xfrm>
          <a:prstGeom prst="ellipse">
            <a:avLst/>
          </a:prstGeom>
          <a:solidFill>
            <a:srgbClr val="A052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Verdana"/>
              </a:rPr>
              <a:t/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11096" y="1801368"/>
            <a:ext cx="731520" cy="20116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1" i="0">
                <a:solidFill>
                  <a:srgbClr val="A0522D"/>
                </a:solidFill>
                <a:latin typeface="Verdana"/>
              </a:rPr>
              <a:t>Headache</a:t>
            </a:r>
          </a:p>
        </p:txBody>
      </p:sp>
      <p:sp>
        <p:nvSpPr>
          <p:cNvPr id="18" name="Oval 17"/>
          <p:cNvSpPr/>
          <p:nvPr/>
        </p:nvSpPr>
        <p:spPr>
          <a:xfrm>
            <a:off x="2715768" y="1664207"/>
            <a:ext cx="128016" cy="128016"/>
          </a:xfrm>
          <a:prstGeom prst="ellipse">
            <a:avLst/>
          </a:prstGeom>
          <a:solidFill>
            <a:srgbClr val="A88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Verdana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14016" y="1801368"/>
            <a:ext cx="731520" cy="20116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1" i="0">
                <a:solidFill>
                  <a:srgbClr val="A8812E"/>
                </a:solidFill>
                <a:latin typeface="Verdana"/>
              </a:rPr>
              <a:t>Fatigue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09344" y="2048256"/>
            <a:ext cx="1353312" cy="86868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5F5F5F"/>
                </a:solidFill>
                <a:latin typeface="Verdana"/>
              </a:rPr>
              <a:t>stage → events; the first mention fixes the stage; events at one stage co-exist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3090672" y="1773936"/>
            <a:ext cx="219456" cy="0"/>
          </a:xfrm>
          <a:prstGeom prst="line">
            <a:avLst/>
          </a:prstGeom>
          <a:ln w="22225">
            <a:solidFill>
              <a:srgbClr val="5F5F5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3346704" y="676656"/>
            <a:ext cx="2834640" cy="23408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B8BE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ounded Rectangle 22"/>
          <p:cNvSpPr/>
          <p:nvPr/>
        </p:nvSpPr>
        <p:spPr>
          <a:xfrm>
            <a:off x="3419856" y="749808"/>
            <a:ext cx="457200" cy="237744"/>
          </a:xfrm>
          <a:prstGeom prst="roundRect">
            <a:avLst>
              <a:gd name="adj" fmla="val 30000"/>
            </a:avLst>
          </a:prstGeom>
          <a:solidFill>
            <a:srgbClr val="4F6B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Verdana"/>
              </a:rPr>
              <a:t>1.2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913632" y="713232"/>
            <a:ext cx="2212848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2B2B2B"/>
                </a:solidFill>
                <a:latin typeface="Verdana"/>
              </a:rPr>
              <a:t>Hypothesis templates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3419856" y="1078992"/>
          <a:ext cx="2688336" cy="18287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6112"/>
                <a:gridCol w="1792224"/>
              </a:tblGrid>
              <a:tr h="261257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2B2B2B"/>
                          </a:solidFill>
                          <a:latin typeface="Verdana"/>
                        </a:rPr>
                        <a:t>Precedes</a:t>
                      </a:r>
                    </a:p>
                  </a:txBody>
                  <a:tcPr marL="36576" marR="36576" marT="0" marB="0" anchor="ctr">
                    <a:solidFill>
                      <a:srgbClr val="E3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B2B2B"/>
                          </a:solidFill>
                          <a:latin typeface="Verdana"/>
                        </a:rPr>
                        <a:t>A tends to precede B</a:t>
                      </a:r>
                    </a:p>
                  </a:txBody>
                  <a:tcPr marL="36576" marR="36576" marT="0" marB="0" anchor="ctr">
                    <a:solidFill>
                      <a:srgbClr val="FFFFFF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2B2B2B"/>
                          </a:solidFill>
                          <a:latin typeface="Verdana"/>
                        </a:rPr>
                        <a:t>Co-occurs</a:t>
                      </a:r>
                    </a:p>
                  </a:txBody>
                  <a:tcPr marL="36576" marR="36576" marT="0" marB="0" anchor="ctr">
                    <a:solidFill>
                      <a:srgbClr val="F3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B2B2B"/>
                          </a:solidFill>
                          <a:latin typeface="Verdana"/>
                        </a:rPr>
                        <a:t>A and B tend to co-occur</a:t>
                      </a:r>
                    </a:p>
                  </a:txBody>
                  <a:tcPr marL="36576" marR="36576" marT="0" marB="0" anchor="ctr">
                    <a:solidFill>
                      <a:srgbClr val="FFFFFF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2B2B2B"/>
                          </a:solidFill>
                          <a:latin typeface="Verdana"/>
                        </a:rPr>
                        <a:t>Sequence</a:t>
                      </a:r>
                    </a:p>
                  </a:txBody>
                  <a:tcPr marL="36576" marR="36576" marT="0" marB="0" anchor="ctr">
                    <a:solidFill>
                      <a:srgbClr val="F1E2D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B2B2B"/>
                          </a:solidFill>
                          <a:latin typeface="Verdana"/>
                        </a:rPr>
                        <a:t>A, then B, then C</a:t>
                      </a:r>
                    </a:p>
                  </a:txBody>
                  <a:tcPr marL="36576" marR="36576" marT="0" marB="0" anchor="ctr">
                    <a:solidFill>
                      <a:srgbClr val="FFFFFF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2B2B2B"/>
                          </a:solidFill>
                          <a:latin typeface="Verdana"/>
                        </a:rPr>
                        <a:t>First / Last</a:t>
                      </a:r>
                    </a:p>
                  </a:txBody>
                  <a:tcPr marL="36576" marR="36576" marT="0" marB="0" anchor="ctr">
                    <a:solidFill>
                      <a:srgbClr val="E3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B2B2B"/>
                          </a:solidFill>
                          <a:latin typeface="Verdana"/>
                        </a:rPr>
                        <a:t>A is most often first (last)</a:t>
                      </a:r>
                    </a:p>
                  </a:txBody>
                  <a:tcPr marL="36576" marR="36576" marT="0" marB="0" anchor="ctr">
                    <a:solidFill>
                      <a:srgbClr val="FFFFFF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2B2B2B"/>
                          </a:solidFill>
                          <a:latin typeface="Verdana"/>
                        </a:rPr>
                        <a:t>Position</a:t>
                      </a:r>
                    </a:p>
                  </a:txBody>
                  <a:tcPr marL="36576" marR="36576" marT="0" marB="0" anchor="ctr">
                    <a:solidFill>
                      <a:srgbClr val="F3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B2B2B"/>
                          </a:solidFill>
                          <a:latin typeface="Verdana"/>
                        </a:rPr>
                        <a:t>A falls in the earlier half</a:t>
                      </a:r>
                    </a:p>
                  </a:txBody>
                  <a:tcPr marL="36576" marR="36576" marT="0" marB="0" anchor="ctr">
                    <a:solidFill>
                      <a:srgbClr val="FFFFFF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2B2B2B"/>
                          </a:solidFill>
                          <a:latin typeface="Verdana"/>
                        </a:rPr>
                        <a:t>Proximity</a:t>
                      </a:r>
                    </a:p>
                  </a:txBody>
                  <a:tcPr marL="36576" marR="36576" marT="0" marB="0" anchor="ctr">
                    <a:solidFill>
                      <a:srgbClr val="F1E2D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B2B2B"/>
                          </a:solidFill>
                          <a:latin typeface="Verdana"/>
                        </a:rPr>
                        <a:t>A occurs right before B</a:t>
                      </a:r>
                    </a:p>
                  </a:txBody>
                  <a:tcPr marL="36576" marR="36576" marT="0" marB="0" anchor="ctr">
                    <a:solidFill>
                      <a:srgbClr val="FFFFFF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2B2B2B"/>
                          </a:solidFill>
                          <a:latin typeface="Verdana"/>
                        </a:rPr>
                        <a:t>Threshold</a:t>
                      </a:r>
                    </a:p>
                  </a:txBody>
                  <a:tcPr marL="36576" marR="36576" marT="0" marB="0" anchor="ctr">
                    <a:solidFill>
                      <a:srgbClr val="E3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B2B2B"/>
                          </a:solidFill>
                          <a:latin typeface="Verdana"/>
                        </a:rPr>
                        <a:t>A precedes B in ≥ 2/3</a:t>
                      </a:r>
                    </a:p>
                  </a:txBody>
                  <a:tcPr marL="36576" marR="36576" marT="0" marB="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cxnSp>
        <p:nvCxnSpPr>
          <p:cNvPr id="26" name="Connector 25"/>
          <p:cNvCxnSpPr/>
          <p:nvPr/>
        </p:nvCxnSpPr>
        <p:spPr>
          <a:xfrm>
            <a:off x="6217920" y="1773936"/>
            <a:ext cx="219456" cy="0"/>
          </a:xfrm>
          <a:prstGeom prst="line">
            <a:avLst/>
          </a:prstGeom>
          <a:ln w="22225">
            <a:solidFill>
              <a:srgbClr val="5F5F5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6473952" y="676656"/>
            <a:ext cx="2743200" cy="23408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B8BE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ounded Rectangle 27"/>
          <p:cNvSpPr/>
          <p:nvPr/>
        </p:nvSpPr>
        <p:spPr>
          <a:xfrm>
            <a:off x="6547104" y="749808"/>
            <a:ext cx="457200" cy="237744"/>
          </a:xfrm>
          <a:prstGeom prst="roundRect">
            <a:avLst>
              <a:gd name="adj" fmla="val 30000"/>
            </a:avLst>
          </a:prstGeom>
          <a:solidFill>
            <a:srgbClr val="4F6B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Verdana"/>
              </a:rPr>
              <a:t>1.3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40880" y="713232"/>
            <a:ext cx="2121408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2B2B2B"/>
                </a:solidFill>
                <a:latin typeface="Verdana"/>
              </a:rPr>
              <a:t>Groups, families, levels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47104" y="1078992"/>
            <a:ext cx="2596896" cy="548640"/>
          </a:xfrm>
          <a:prstGeom prst="roundRect">
            <a:avLst>
              <a:gd name="adj" fmla="val 10000"/>
            </a:avLst>
          </a:prstGeom>
          <a:solidFill>
            <a:srgbClr val="E3E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1" name="Picture 30" descr="brain_4F6B7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01968" y="1188719"/>
            <a:ext cx="329184" cy="329184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6967728" y="1097280"/>
            <a:ext cx="2157984" cy="512063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95000"/>
              </a:lnSpc>
            </a:pPr>
            <a:r>
              <a:rPr sz="1100" b="1" i="0">
                <a:solidFill>
                  <a:srgbClr val="2B2B2B"/>
                </a:solidFill>
                <a:latin typeface="Verdana"/>
              </a:rPr>
              <a:t>26 groups</a:t>
            </a:r>
          </a:p>
          <a:p>
            <a:pPr algn="l">
              <a:lnSpc>
                <a:spcPct val="95000"/>
              </a:lnSpc>
            </a:pPr>
            <a:r>
              <a:rPr sz="900" b="0" i="0">
                <a:solidFill>
                  <a:srgbClr val="5F5F5F"/>
                </a:solidFill>
                <a:latin typeface="Verdana"/>
              </a:rPr>
              <a:t>9 report, 16 cohort, 1 two-cohort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547104" y="1682496"/>
            <a:ext cx="2596896" cy="621792"/>
          </a:xfrm>
          <a:prstGeom prst="roundRect">
            <a:avLst>
              <a:gd name="adj" fmla="val 10000"/>
            </a:avLst>
          </a:prstGeom>
          <a:solidFill>
            <a:srgbClr val="F3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4" name="Picture 33" descr="network_4F6B7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01968" y="1828800"/>
            <a:ext cx="329184" cy="329184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6967728" y="1700784"/>
            <a:ext cx="2157984" cy="58521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95000"/>
              </a:lnSpc>
            </a:pPr>
            <a:r>
              <a:rPr sz="1100" b="1" i="0">
                <a:solidFill>
                  <a:srgbClr val="2B2B2B"/>
                </a:solidFill>
                <a:latin typeface="Verdana"/>
              </a:rPr>
              <a:t>7 claim families</a:t>
            </a:r>
          </a:p>
          <a:p>
            <a:pPr algn="l">
              <a:lnSpc>
                <a:spcPct val="95000"/>
              </a:lnSpc>
            </a:pPr>
            <a:r>
              <a:rPr sz="900" b="0" i="0">
                <a:solidFill>
                  <a:srgbClr val="5F5F5F"/>
                </a:solidFill>
                <a:latin typeface="Verdana"/>
              </a:rPr>
              <a:t>precedes, co-occurs, sequence, first/last, position, proximity, threshold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547104" y="2359152"/>
            <a:ext cx="2596896" cy="566928"/>
          </a:xfrm>
          <a:prstGeom prst="roundRect">
            <a:avLst>
              <a:gd name="adj" fmla="val 10000"/>
            </a:avLst>
          </a:prstGeom>
          <a:solidFill>
            <a:srgbClr val="F1E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7" name="Picture 36" descr="chart-no-axes-column_A0522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01968" y="2478024"/>
            <a:ext cx="329184" cy="329184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6967728" y="2377440"/>
            <a:ext cx="2157984" cy="53035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95000"/>
              </a:lnSpc>
            </a:pPr>
            <a:r>
              <a:rPr sz="1100" b="1" i="0">
                <a:solidFill>
                  <a:srgbClr val="2B2B2B"/>
                </a:solidFill>
                <a:latin typeface="Verdana"/>
              </a:rPr>
              <a:t>3 difficulty levels</a:t>
            </a:r>
          </a:p>
          <a:p>
            <a:pPr algn="l">
              <a:lnSpc>
                <a:spcPct val="95000"/>
              </a:lnSpc>
            </a:pPr>
            <a:r>
              <a:rPr sz="900" b="0" i="0">
                <a:solidFill>
                  <a:srgbClr val="5F5F5F"/>
                </a:solidFill>
                <a:latin typeface="Verdana"/>
              </a:rPr>
              <a:t>Easy one report; Medium one cohort; Hard two cohorts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9253728" y="1773936"/>
            <a:ext cx="219456" cy="0"/>
          </a:xfrm>
          <a:prstGeom prst="line">
            <a:avLst/>
          </a:prstGeom>
          <a:ln w="22225">
            <a:solidFill>
              <a:srgbClr val="5F5F5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ounded Rectangle 39"/>
          <p:cNvSpPr/>
          <p:nvPr/>
        </p:nvSpPr>
        <p:spPr>
          <a:xfrm>
            <a:off x="9509760" y="676656"/>
            <a:ext cx="2569464" cy="23408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B8BE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Rounded Rectangle 40"/>
          <p:cNvSpPr/>
          <p:nvPr/>
        </p:nvSpPr>
        <p:spPr>
          <a:xfrm>
            <a:off x="9582912" y="749808"/>
            <a:ext cx="457200" cy="237744"/>
          </a:xfrm>
          <a:prstGeom prst="roundRect">
            <a:avLst>
              <a:gd name="adj" fmla="val 30000"/>
            </a:avLst>
          </a:prstGeom>
          <a:solidFill>
            <a:srgbClr val="4F6B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Verdana"/>
              </a:rPr>
              <a:t>1.4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076688" y="713232"/>
            <a:ext cx="1947672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2B2B2B"/>
                </a:solidFill>
                <a:latin typeface="Verdana"/>
              </a:rPr>
              <a:t>Gold annotations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582912" y="1078992"/>
            <a:ext cx="2423160" cy="548640"/>
          </a:xfrm>
          <a:prstGeom prst="roundRect">
            <a:avLst>
              <a:gd name="adj" fmla="val 10000"/>
            </a:avLst>
          </a:prstGeom>
          <a:solidFill>
            <a:srgbClr val="F3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4" name="Picture 43" descr="file-check_A8812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37776" y="1197863"/>
            <a:ext cx="310896" cy="310896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9985248" y="1097280"/>
            <a:ext cx="2011680" cy="512063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95000"/>
              </a:lnSpc>
            </a:pPr>
            <a:r>
              <a:rPr sz="1100" b="1" i="0">
                <a:solidFill>
                  <a:srgbClr val="2B2B2B"/>
                </a:solidFill>
                <a:latin typeface="Verdana"/>
              </a:rPr>
              <a:t>Plan</a:t>
            </a:r>
          </a:p>
          <a:p>
            <a:pPr algn="l">
              <a:lnSpc>
                <a:spcPct val="95000"/>
              </a:lnSpc>
            </a:pPr>
            <a:r>
              <a:rPr sz="900" b="0" i="0">
                <a:solidFill>
                  <a:srgbClr val="5F5F5F"/>
                </a:solidFill>
                <a:latin typeface="Verdana"/>
              </a:rPr>
              <a:t>events, quantity, denominator primitive, arms, null, p0, tail, test, floor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582912" y="1682496"/>
            <a:ext cx="2423160" cy="475488"/>
          </a:xfrm>
          <a:prstGeom prst="roundRect">
            <a:avLst>
              <a:gd name="adj" fmla="val 10000"/>
            </a:avLst>
          </a:prstGeom>
          <a:solidFill>
            <a:srgbClr val="F3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7" name="Picture 46" descr="database_A8812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637776" y="1764792"/>
            <a:ext cx="310896" cy="310896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9985248" y="1700784"/>
            <a:ext cx="2011680" cy="43891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95000"/>
              </a:lnSpc>
            </a:pPr>
            <a:r>
              <a:rPr sz="1100" b="1" i="0">
                <a:solidFill>
                  <a:srgbClr val="2B2B2B"/>
                </a:solidFill>
                <a:latin typeface="Verdana"/>
              </a:rPr>
              <a:t>Evidence sets</a:t>
            </a:r>
          </a:p>
          <a:p>
            <a:pPr algn="l">
              <a:lnSpc>
                <a:spcPct val="95000"/>
              </a:lnSpc>
            </a:pPr>
            <a:r>
              <a:rPr sz="900" b="0" i="0">
                <a:solidFill>
                  <a:srgbClr val="5F5F5F"/>
                </a:solidFill>
                <a:latin typeface="Verdana"/>
              </a:rPr>
              <a:t>denominator, numerator and excluded ids; n, k per arm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9582912" y="2212848"/>
            <a:ext cx="2423160" cy="548640"/>
          </a:xfrm>
          <a:prstGeom prst="roundRect">
            <a:avLst>
              <a:gd name="adj" fmla="val 10000"/>
            </a:avLst>
          </a:prstGeom>
          <a:solidFill>
            <a:srgbClr val="F3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0" name="Picture 49" descr="chart-bar_A8812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637776" y="2331720"/>
            <a:ext cx="310896" cy="310896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9985248" y="2231136"/>
            <a:ext cx="2011680" cy="512063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95000"/>
              </a:lnSpc>
            </a:pPr>
            <a:r>
              <a:rPr sz="1100" b="1" i="0">
                <a:solidFill>
                  <a:srgbClr val="2B2B2B"/>
                </a:solidFill>
                <a:latin typeface="Verdana"/>
              </a:rPr>
              <a:t>Statistics, verdict</a:t>
            </a:r>
          </a:p>
          <a:p>
            <a:pPr algn="l">
              <a:lnSpc>
                <a:spcPct val="95000"/>
              </a:lnSpc>
            </a:pPr>
            <a:r>
              <a:rPr sz="900" b="0" i="0">
                <a:solidFill>
                  <a:srgbClr val="5F5F5F"/>
                </a:solidFill>
                <a:latin typeface="Verdana"/>
              </a:rPr>
              <a:t>p on both tails, Wilson CI, Cohen's h; supported / refuted / insufficient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582912" y="2779776"/>
            <a:ext cx="2423160" cy="21945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 i="1">
                <a:solidFill>
                  <a:srgbClr val="5F5F5F"/>
                </a:solidFill>
                <a:latin typeface="Verdana"/>
              </a:rPr>
              <a:t>validated by invariants and an oracle; permutation-screened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109728" y="3200400"/>
            <a:ext cx="11972239" cy="3017520"/>
          </a:xfrm>
          <a:prstGeom prst="roundRect">
            <a:avLst>
              <a:gd name="adj" fmla="val 3000"/>
            </a:avLst>
          </a:prstGeom>
          <a:solidFill>
            <a:srgbClr val="F1E9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Oval 53"/>
          <p:cNvSpPr/>
          <p:nvPr/>
        </p:nvSpPr>
        <p:spPr>
          <a:xfrm>
            <a:off x="237744" y="3264408"/>
            <a:ext cx="420624" cy="420624"/>
          </a:xfrm>
          <a:prstGeom prst="ellipse">
            <a:avLst/>
          </a:prstGeom>
          <a:solidFill>
            <a:srgbClr val="A052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Verdana"/>
              </a:rPr>
              <a:t>2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31520" y="3236976"/>
            <a:ext cx="6400800" cy="4754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A0522D"/>
                </a:solidFill>
                <a:latin typeface="Verdana"/>
              </a:rPr>
              <a:t>ART Verification Pipeline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219456" y="3785615"/>
            <a:ext cx="2212848" cy="23408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B8BE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TextBox 56"/>
          <p:cNvSpPr txBox="1"/>
          <p:nvPr/>
        </p:nvSpPr>
        <p:spPr>
          <a:xfrm>
            <a:off x="274320" y="3831335"/>
            <a:ext cx="2103120" cy="27432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2B2B2B"/>
                </a:solidFill>
                <a:latin typeface="Verdana"/>
              </a:rPr>
              <a:t>Inputs</a:t>
            </a:r>
          </a:p>
        </p:txBody>
      </p:sp>
      <p:pic>
        <p:nvPicPr>
          <p:cNvPr id="58" name="Picture 57" descr="file-text_4F6B7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4169663"/>
            <a:ext cx="329184" cy="329184"/>
          </a:xfrm>
          <a:prstGeom prst="rect">
            <a:avLst/>
          </a:prstGeom>
        </p:spPr>
      </p:pic>
      <p:sp>
        <p:nvSpPr>
          <p:cNvPr id="59" name="TextBox 58"/>
          <p:cNvSpPr txBox="1"/>
          <p:nvPr/>
        </p:nvSpPr>
        <p:spPr>
          <a:xfrm>
            <a:off x="676656" y="4133087"/>
            <a:ext cx="1737360" cy="45720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000" b="0" i="0">
                <a:solidFill>
                  <a:srgbClr val="2B2B2B"/>
                </a:solidFill>
                <a:latin typeface="Verdana"/>
              </a:rPr>
              <a:t>a claim in natural language, with its cohort and level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74320" y="4700016"/>
            <a:ext cx="2103120" cy="27432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2B2B2B"/>
                </a:solidFill>
                <a:latin typeface="Verdana"/>
              </a:rPr>
              <a:t>Resources (to S1)</a:t>
            </a:r>
          </a:p>
        </p:txBody>
      </p:sp>
      <p:pic>
        <p:nvPicPr>
          <p:cNvPr id="61" name="Picture 60" descr="list-checks_4F6B75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92608" y="5065775"/>
            <a:ext cx="329184" cy="329184"/>
          </a:xfrm>
          <a:prstGeom prst="rect">
            <a:avLst/>
          </a:prstGeom>
        </p:spPr>
      </p:pic>
      <p:sp>
        <p:nvSpPr>
          <p:cNvPr id="62" name="TextBox 61"/>
          <p:cNvSpPr txBox="1"/>
          <p:nvPr/>
        </p:nvSpPr>
        <p:spPr>
          <a:xfrm>
            <a:off x="676656" y="5010912"/>
            <a:ext cx="1737360" cy="54864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000" b="0" i="0">
                <a:solidFill>
                  <a:srgbClr val="2B2B2B"/>
                </a:solidFill>
                <a:latin typeface="Verdana"/>
              </a:rPr>
              <a:t>codebook: the corpus stipulations as text; null sources; test definitions</a:t>
            </a:r>
          </a:p>
        </p:txBody>
      </p:sp>
      <p:pic>
        <p:nvPicPr>
          <p:cNvPr id="63" name="Picture 62" descr="database_4F6B75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92608" y="5632704"/>
            <a:ext cx="329184" cy="329184"/>
          </a:xfrm>
          <a:prstGeom prst="rect">
            <a:avLst/>
          </a:prstGeom>
        </p:spPr>
      </p:pic>
      <p:sp>
        <p:nvSpPr>
          <p:cNvPr id="64" name="TextBox 63"/>
          <p:cNvSpPr txBox="1"/>
          <p:nvPr/>
        </p:nvSpPr>
        <p:spPr>
          <a:xfrm>
            <a:off x="676656" y="5596127"/>
            <a:ext cx="1737360" cy="51206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000" b="0" i="0">
                <a:solidFill>
                  <a:srgbClr val="2B2B2B"/>
                </a:solidFill>
                <a:latin typeface="Verdana"/>
              </a:rPr>
              <a:t>annotation DB: report, vaccine, term, first-mention stage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2450592" y="4334255"/>
            <a:ext cx="219456" cy="0"/>
          </a:xfrm>
          <a:prstGeom prst="line">
            <a:avLst/>
          </a:prstGeom>
          <a:ln w="22225">
            <a:solidFill>
              <a:srgbClr val="5F5F5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2450592" y="5248656"/>
            <a:ext cx="219456" cy="0"/>
          </a:xfrm>
          <a:prstGeom prst="line">
            <a:avLst/>
          </a:prstGeom>
          <a:ln w="22225">
            <a:solidFill>
              <a:srgbClr val="5F5F5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Rounded Rectangle 66"/>
          <p:cNvSpPr/>
          <p:nvPr/>
        </p:nvSpPr>
        <p:spPr>
          <a:xfrm>
            <a:off x="2706624" y="3785615"/>
            <a:ext cx="4443984" cy="2340864"/>
          </a:xfrm>
          <a:prstGeom prst="roundRect">
            <a:avLst>
              <a:gd name="adj" fmla="val 5000"/>
            </a:avLst>
          </a:prstGeom>
          <a:solidFill>
            <a:srgbClr val="E3E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8" name="Oval 67"/>
          <p:cNvSpPr/>
          <p:nvPr/>
        </p:nvSpPr>
        <p:spPr>
          <a:xfrm>
            <a:off x="2779776" y="3849624"/>
            <a:ext cx="493776" cy="493776"/>
          </a:xfrm>
          <a:prstGeom prst="ellipse">
            <a:avLst/>
          </a:prstGeom>
          <a:solidFill>
            <a:srgbClr val="4F6B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Verdana"/>
              </a:rPr>
              <a:t>S1</a:t>
            </a:r>
          </a:p>
          <a:p>
            <a:pPr algn="ctr"/>
            <a:r>
              <a:rPr sz="650">
                <a:solidFill>
                  <a:srgbClr val="FFFFFF"/>
                </a:solidFill>
                <a:latin typeface="Verdana"/>
              </a:rPr>
              <a:t>LLM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328416" y="3822191"/>
            <a:ext cx="3794760" cy="54864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95000"/>
              </a:lnSpc>
            </a:pPr>
            <a:r>
              <a:rPr sz="1400" b="1" i="0">
                <a:solidFill>
                  <a:srgbClr val="4F6B75"/>
                </a:solidFill>
                <a:latin typeface="Verdana"/>
              </a:rPr>
              <a:t>Articulate</a:t>
            </a:r>
          </a:p>
          <a:p>
            <a:pPr algn="l">
              <a:lnSpc>
                <a:spcPct val="95000"/>
              </a:lnSpc>
            </a:pPr>
            <a:r>
              <a:rPr sz="1050" b="0" i="0">
                <a:solidFill>
                  <a:srgbClr val="5F5F5F"/>
                </a:solidFill>
                <a:latin typeface="Verdana"/>
              </a:rPr>
              <a:t>form a structured plan; the claim-type mapping is withheld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2779776" y="4425696"/>
            <a:ext cx="1033271" cy="1188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1" name="Oval 70"/>
          <p:cNvSpPr/>
          <p:nvPr/>
        </p:nvSpPr>
        <p:spPr>
          <a:xfrm>
            <a:off x="2834640" y="4480559"/>
            <a:ext cx="237744" cy="237744"/>
          </a:xfrm>
          <a:prstGeom prst="ellipse">
            <a:avLst/>
          </a:prstGeom>
          <a:solidFill>
            <a:srgbClr val="4F6B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Verdana"/>
              </a:rPr>
              <a:t>1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090672" y="4443983"/>
            <a:ext cx="713232" cy="4572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90000"/>
              </a:lnSpc>
            </a:pPr>
            <a:r>
              <a:rPr sz="1000" b="1" i="0">
                <a:solidFill>
                  <a:srgbClr val="2B2B2B"/>
                </a:solidFill>
                <a:latin typeface="Verdana"/>
              </a:rPr>
              <a:t>Parse the claim</a:t>
            </a:r>
          </a:p>
        </p:txBody>
      </p:sp>
      <p:pic>
        <p:nvPicPr>
          <p:cNvPr id="73" name="Picture 72" descr="file-search_4F6B75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843784" y="4974336"/>
            <a:ext cx="274320" cy="274320"/>
          </a:xfrm>
          <a:prstGeom prst="rect">
            <a:avLst/>
          </a:prstGeom>
        </p:spPr>
      </p:pic>
      <p:sp>
        <p:nvSpPr>
          <p:cNvPr id="74" name="TextBox 73"/>
          <p:cNvSpPr txBox="1"/>
          <p:nvPr/>
        </p:nvSpPr>
        <p:spPr>
          <a:xfrm>
            <a:off x="3136392" y="4919472"/>
            <a:ext cx="676656" cy="67665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850" b="0" i="0">
                <a:solidFill>
                  <a:srgbClr val="2B2B2B"/>
                </a:solidFill>
                <a:latin typeface="Verdana"/>
              </a:rPr>
              <a:t>events, cohort, quantity, direction</a:t>
            </a:r>
          </a:p>
        </p:txBody>
      </p:sp>
      <p:cxnSp>
        <p:nvCxnSpPr>
          <p:cNvPr id="75" name="Connector 74"/>
          <p:cNvCxnSpPr/>
          <p:nvPr/>
        </p:nvCxnSpPr>
        <p:spPr>
          <a:xfrm>
            <a:off x="3813048" y="5020056"/>
            <a:ext cx="50291" cy="0"/>
          </a:xfrm>
          <a:prstGeom prst="line">
            <a:avLst/>
          </a:prstGeom>
          <a:ln w="15875">
            <a:solidFill>
              <a:srgbClr val="5F5F5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Rounded Rectangle 75"/>
          <p:cNvSpPr/>
          <p:nvPr/>
        </p:nvSpPr>
        <p:spPr>
          <a:xfrm>
            <a:off x="3863339" y="4425696"/>
            <a:ext cx="1033271" cy="1188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7" name="Oval 76"/>
          <p:cNvSpPr/>
          <p:nvPr/>
        </p:nvSpPr>
        <p:spPr>
          <a:xfrm>
            <a:off x="3918203" y="4480559"/>
            <a:ext cx="237744" cy="237744"/>
          </a:xfrm>
          <a:prstGeom prst="ellipse">
            <a:avLst/>
          </a:prstGeom>
          <a:solidFill>
            <a:srgbClr val="4F6B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Verdana"/>
              </a:rPr>
              <a:t>2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174235" y="4443983"/>
            <a:ext cx="713232" cy="4572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90000"/>
              </a:lnSpc>
            </a:pPr>
            <a:r>
              <a:rPr sz="1000" b="1" i="0">
                <a:solidFill>
                  <a:srgbClr val="2B2B2B"/>
                </a:solidFill>
                <a:latin typeface="Verdana"/>
              </a:rPr>
              <a:t>Choose the primitive</a:t>
            </a:r>
          </a:p>
        </p:txBody>
      </p:sp>
      <p:pic>
        <p:nvPicPr>
          <p:cNvPr id="79" name="Picture 78" descr="git-branch_4F6B75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927348" y="4974336"/>
            <a:ext cx="274320" cy="274320"/>
          </a:xfrm>
          <a:prstGeom prst="rect">
            <a:avLst/>
          </a:prstGeom>
        </p:spPr>
      </p:pic>
      <p:sp>
        <p:nvSpPr>
          <p:cNvPr id="80" name="TextBox 79"/>
          <p:cNvSpPr txBox="1"/>
          <p:nvPr/>
        </p:nvSpPr>
        <p:spPr>
          <a:xfrm>
            <a:off x="4219955" y="4919472"/>
            <a:ext cx="676656" cy="67665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850" b="0" i="0">
                <a:solidFill>
                  <a:srgbClr val="2B2B2B"/>
                </a:solidFill>
                <a:latin typeface="Verdana"/>
              </a:rPr>
              <a:t>denominator rule; arms</a:t>
            </a:r>
          </a:p>
        </p:txBody>
      </p:sp>
      <p:cxnSp>
        <p:nvCxnSpPr>
          <p:cNvPr id="81" name="Connector 80"/>
          <p:cNvCxnSpPr/>
          <p:nvPr/>
        </p:nvCxnSpPr>
        <p:spPr>
          <a:xfrm>
            <a:off x="4896612" y="5020056"/>
            <a:ext cx="50292" cy="0"/>
          </a:xfrm>
          <a:prstGeom prst="line">
            <a:avLst/>
          </a:prstGeom>
          <a:ln w="15875">
            <a:solidFill>
              <a:srgbClr val="5F5F5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Rounded Rectangle 81"/>
          <p:cNvSpPr/>
          <p:nvPr/>
        </p:nvSpPr>
        <p:spPr>
          <a:xfrm>
            <a:off x="4946904" y="4425696"/>
            <a:ext cx="1033271" cy="1188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3" name="Oval 82"/>
          <p:cNvSpPr/>
          <p:nvPr/>
        </p:nvSpPr>
        <p:spPr>
          <a:xfrm>
            <a:off x="5001768" y="4480559"/>
            <a:ext cx="237744" cy="237744"/>
          </a:xfrm>
          <a:prstGeom prst="ellipse">
            <a:avLst/>
          </a:prstGeom>
          <a:solidFill>
            <a:srgbClr val="4F6B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Verdana"/>
              </a:rPr>
              <a:t>3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257800" y="4443983"/>
            <a:ext cx="713232" cy="4572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90000"/>
              </a:lnSpc>
            </a:pPr>
            <a:r>
              <a:rPr sz="1000" b="1" i="0">
                <a:solidFill>
                  <a:srgbClr val="2B2B2B"/>
                </a:solidFill>
                <a:latin typeface="Verdana"/>
              </a:rPr>
              <a:t>Compose the plan</a:t>
            </a:r>
          </a:p>
        </p:txBody>
      </p:sp>
      <p:pic>
        <p:nvPicPr>
          <p:cNvPr id="85" name="Picture 84" descr="sigma_4F6B75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010912" y="4974336"/>
            <a:ext cx="274320" cy="274320"/>
          </a:xfrm>
          <a:prstGeom prst="rect">
            <a:avLst/>
          </a:prstGeom>
        </p:spPr>
      </p:pic>
      <p:sp>
        <p:nvSpPr>
          <p:cNvPr id="86" name="TextBox 85"/>
          <p:cNvSpPr txBox="1"/>
          <p:nvPr/>
        </p:nvSpPr>
        <p:spPr>
          <a:xfrm>
            <a:off x="5303520" y="4919472"/>
            <a:ext cx="676656" cy="67665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850" b="0" i="0">
                <a:solidFill>
                  <a:srgbClr val="2B2B2B"/>
                </a:solidFill>
                <a:latin typeface="Verdana"/>
              </a:rPr>
              <a:t>null, p0, tail, test family, floor</a:t>
            </a:r>
          </a:p>
        </p:txBody>
      </p:sp>
      <p:cxnSp>
        <p:nvCxnSpPr>
          <p:cNvPr id="87" name="Connector 86"/>
          <p:cNvCxnSpPr/>
          <p:nvPr/>
        </p:nvCxnSpPr>
        <p:spPr>
          <a:xfrm>
            <a:off x="5980176" y="5020056"/>
            <a:ext cx="50292" cy="0"/>
          </a:xfrm>
          <a:prstGeom prst="line">
            <a:avLst/>
          </a:prstGeom>
          <a:ln w="15875">
            <a:solidFill>
              <a:srgbClr val="5F5F5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Rounded Rectangle 87"/>
          <p:cNvSpPr/>
          <p:nvPr/>
        </p:nvSpPr>
        <p:spPr>
          <a:xfrm>
            <a:off x="6030468" y="4425696"/>
            <a:ext cx="1033271" cy="1188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9" name="Oval 88"/>
          <p:cNvSpPr/>
          <p:nvPr/>
        </p:nvSpPr>
        <p:spPr>
          <a:xfrm>
            <a:off x="6085332" y="4480559"/>
            <a:ext cx="237744" cy="237744"/>
          </a:xfrm>
          <a:prstGeom prst="ellipse">
            <a:avLst/>
          </a:prstGeom>
          <a:solidFill>
            <a:srgbClr val="4F6B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Verdana"/>
              </a:rPr>
              <a:t>4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341364" y="4443983"/>
            <a:ext cx="713232" cy="4572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90000"/>
              </a:lnSpc>
            </a:pPr>
            <a:r>
              <a:rPr sz="1000" b="1" i="0">
                <a:solidFill>
                  <a:srgbClr val="2B2B2B"/>
                </a:solidFill>
                <a:latin typeface="Verdana"/>
              </a:rPr>
              <a:t>Verify, 1 round</a:t>
            </a:r>
          </a:p>
        </p:txBody>
      </p:sp>
      <p:pic>
        <p:nvPicPr>
          <p:cNvPr id="91" name="Picture 90" descr="timer-reset_4F6B75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094476" y="4974336"/>
            <a:ext cx="274320" cy="274320"/>
          </a:xfrm>
          <a:prstGeom prst="rect">
            <a:avLst/>
          </a:prstGeom>
        </p:spPr>
      </p:pic>
      <p:sp>
        <p:nvSpPr>
          <p:cNvPr id="92" name="TextBox 91"/>
          <p:cNvSpPr txBox="1"/>
          <p:nvPr/>
        </p:nvSpPr>
        <p:spPr>
          <a:xfrm>
            <a:off x="6387084" y="4919472"/>
            <a:ext cx="676656" cy="67665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850" b="0" i="0">
                <a:solidFill>
                  <a:srgbClr val="2B2B2B"/>
                </a:solidFill>
                <a:latin typeface="Verdana"/>
              </a:rPr>
              <a:t>plan vs the codebook; re-ask once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2779776" y="5669279"/>
            <a:ext cx="4297680" cy="384048"/>
          </a:xfrm>
          <a:prstGeom prst="roundRect">
            <a:avLst>
              <a:gd name="adj" fmla="val 10000"/>
            </a:avLst>
          </a:prstGeom>
          <a:solidFill>
            <a:srgbClr val="F1E2DA"/>
          </a:solidFill>
          <a:ln w="12700">
            <a:solidFill>
              <a:srgbClr val="A052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4" name="TextBox 93"/>
          <p:cNvSpPr txBox="1"/>
          <p:nvPr/>
        </p:nvSpPr>
        <p:spPr>
          <a:xfrm>
            <a:off x="2834640" y="5678423"/>
            <a:ext cx="4206240" cy="36576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95000"/>
              </a:lnSpc>
            </a:pPr>
            <a:r>
              <a:rPr sz="900" b="1" i="0">
                <a:solidFill>
                  <a:srgbClr val="A0522D"/>
                </a:solidFill>
                <a:latin typeface="Verdana"/>
              </a:rPr>
              <a:t>Contract: </a:t>
            </a:r>
            <a:r>
              <a:rPr sz="900" b="0" i="0">
                <a:solidFill>
                  <a:srgbClr val="2B2B2B"/>
                </a:solidFill>
                <a:latin typeface="Verdana"/>
              </a:rPr>
              <a:t>the harness resolves the plan's primitive into its exact rule and states it to S2</a:t>
            </a:r>
          </a:p>
        </p:txBody>
      </p:sp>
      <p:cxnSp>
        <p:nvCxnSpPr>
          <p:cNvPr id="95" name="Connector 94"/>
          <p:cNvCxnSpPr/>
          <p:nvPr/>
        </p:nvCxnSpPr>
        <p:spPr>
          <a:xfrm>
            <a:off x="7168896" y="4974336"/>
            <a:ext cx="219456" cy="0"/>
          </a:xfrm>
          <a:prstGeom prst="line">
            <a:avLst/>
          </a:prstGeom>
          <a:ln w="28575">
            <a:solidFill>
              <a:srgbClr val="A0522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Rounded Rectangle 95"/>
          <p:cNvSpPr/>
          <p:nvPr/>
        </p:nvSpPr>
        <p:spPr>
          <a:xfrm>
            <a:off x="7424927" y="3785615"/>
            <a:ext cx="2523744" cy="2340864"/>
          </a:xfrm>
          <a:prstGeom prst="roundRect">
            <a:avLst>
              <a:gd name="adj" fmla="val 5000"/>
            </a:avLst>
          </a:prstGeom>
          <a:solidFill>
            <a:srgbClr val="F3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7" name="Oval 96"/>
          <p:cNvSpPr/>
          <p:nvPr/>
        </p:nvSpPr>
        <p:spPr>
          <a:xfrm>
            <a:off x="7498079" y="3849624"/>
            <a:ext cx="493776" cy="493776"/>
          </a:xfrm>
          <a:prstGeom prst="ellipse">
            <a:avLst/>
          </a:prstGeom>
          <a:solidFill>
            <a:srgbClr val="A052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Verdana"/>
              </a:rPr>
              <a:t>S2</a:t>
            </a:r>
          </a:p>
          <a:p>
            <a:pPr algn="ctr"/>
            <a:r>
              <a:rPr sz="650">
                <a:solidFill>
                  <a:srgbClr val="FFFFFF"/>
                </a:solidFill>
                <a:latin typeface="Verdana"/>
              </a:rPr>
              <a:t>LLM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8046720" y="3822191"/>
            <a:ext cx="1874519" cy="54864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A0522D"/>
                </a:solidFill>
                <a:latin typeface="Verdana"/>
              </a:rPr>
              <a:t>Retrieve</a:t>
            </a:r>
          </a:p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5F5F5F"/>
                </a:solidFill>
                <a:latin typeface="Verdana"/>
              </a:rPr>
              <a:t>plan to evidence sets</a:t>
            </a:r>
          </a:p>
        </p:txBody>
      </p:sp>
      <p:pic>
        <p:nvPicPr>
          <p:cNvPr id="99" name="Picture 98" descr="code_A0522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498079" y="4480559"/>
            <a:ext cx="292608" cy="292608"/>
          </a:xfrm>
          <a:prstGeom prst="rect">
            <a:avLst/>
          </a:prstGeom>
        </p:spPr>
      </p:pic>
      <p:sp>
        <p:nvSpPr>
          <p:cNvPr id="100" name="TextBox 99"/>
          <p:cNvSpPr txBox="1"/>
          <p:nvPr/>
        </p:nvSpPr>
        <p:spPr>
          <a:xfrm>
            <a:off x="7845552" y="4443983"/>
            <a:ext cx="2084831" cy="54864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00" b="0" i="0">
                <a:solidFill>
                  <a:srgbClr val="2B2B2B"/>
                </a:solidFill>
                <a:latin typeface="Verdana"/>
              </a:rPr>
              <a:t>told the schema and the contract; one SQL per arm, one row per report</a:t>
            </a:r>
          </a:p>
        </p:txBody>
      </p:sp>
      <p:pic>
        <p:nvPicPr>
          <p:cNvPr id="101" name="Picture 100" descr="table-2_A0522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498079" y="5047488"/>
            <a:ext cx="292608" cy="292608"/>
          </a:xfrm>
          <a:prstGeom prst="rect">
            <a:avLst/>
          </a:prstGeom>
        </p:spPr>
      </p:pic>
      <p:sp>
        <p:nvSpPr>
          <p:cNvPr id="102" name="TextBox 101"/>
          <p:cNvSpPr txBox="1"/>
          <p:nvPr/>
        </p:nvSpPr>
        <p:spPr>
          <a:xfrm>
            <a:off x="7845552" y="5010912"/>
            <a:ext cx="2084831" cy="54864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00" b="0" i="0">
                <a:solidFill>
                  <a:srgbClr val="2B2B2B"/>
                </a:solidFill>
                <a:latin typeface="Verdana"/>
              </a:rPr>
              <a:t>sandbox: read-only execution → n, k and report ids per arm</a:t>
            </a:r>
          </a:p>
        </p:txBody>
      </p:sp>
      <p:pic>
        <p:nvPicPr>
          <p:cNvPr id="103" name="Picture 102" descr="timer-reset_A0522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498079" y="5596128"/>
            <a:ext cx="292608" cy="292608"/>
          </a:xfrm>
          <a:prstGeom prst="rect">
            <a:avLst/>
          </a:prstGeom>
        </p:spPr>
      </p:pic>
      <p:sp>
        <p:nvSpPr>
          <p:cNvPr id="104" name="TextBox 103"/>
          <p:cNvSpPr txBox="1"/>
          <p:nvPr/>
        </p:nvSpPr>
        <p:spPr>
          <a:xfrm>
            <a:off x="7845552" y="5559552"/>
            <a:ext cx="2084831" cy="54864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00" b="0" i="0">
                <a:solidFill>
                  <a:srgbClr val="2B2B2B"/>
                </a:solidFill>
                <a:latin typeface="Verdana"/>
              </a:rPr>
              <a:t>verify, up to 2 rounds: rejected SQL, n = k, empty arm, rule leaks</a:t>
            </a:r>
          </a:p>
        </p:txBody>
      </p:sp>
      <p:cxnSp>
        <p:nvCxnSpPr>
          <p:cNvPr id="105" name="Connector 104"/>
          <p:cNvCxnSpPr/>
          <p:nvPr/>
        </p:nvCxnSpPr>
        <p:spPr>
          <a:xfrm>
            <a:off x="9966960" y="4974336"/>
            <a:ext cx="219456" cy="0"/>
          </a:xfrm>
          <a:prstGeom prst="line">
            <a:avLst/>
          </a:prstGeom>
          <a:ln w="22225">
            <a:solidFill>
              <a:srgbClr val="5F5F5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Rounded Rectangle 105"/>
          <p:cNvSpPr/>
          <p:nvPr/>
        </p:nvSpPr>
        <p:spPr>
          <a:xfrm>
            <a:off x="10222992" y="3785615"/>
            <a:ext cx="1856231" cy="2340864"/>
          </a:xfrm>
          <a:prstGeom prst="roundRect">
            <a:avLst>
              <a:gd name="adj" fmla="val 5000"/>
            </a:avLst>
          </a:prstGeom>
          <a:solidFill>
            <a:srgbClr val="E3E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" name="Oval 106"/>
          <p:cNvSpPr/>
          <p:nvPr/>
        </p:nvSpPr>
        <p:spPr>
          <a:xfrm>
            <a:off x="10296144" y="3849624"/>
            <a:ext cx="493776" cy="493776"/>
          </a:xfrm>
          <a:prstGeom prst="ellipse">
            <a:avLst/>
          </a:prstGeom>
          <a:solidFill>
            <a:srgbClr val="A88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Verdana"/>
              </a:rPr>
              <a:t>S3</a:t>
            </a:r>
          </a:p>
          <a:p>
            <a:pPr algn="ctr"/>
            <a:r>
              <a:rPr sz="650">
                <a:solidFill>
                  <a:srgbClr val="FFFFFF"/>
                </a:solidFill>
                <a:latin typeface="Verdana"/>
              </a:rPr>
              <a:t>function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844784" y="3822191"/>
            <a:ext cx="1216152" cy="54864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95000"/>
              </a:lnSpc>
            </a:pPr>
            <a:r>
              <a:rPr sz="1400" b="1" i="0">
                <a:solidFill>
                  <a:srgbClr val="A8812E"/>
                </a:solidFill>
                <a:latin typeface="Verdana"/>
              </a:rPr>
              <a:t>Test</a:t>
            </a:r>
          </a:p>
          <a:p>
            <a:pPr algn="l">
              <a:lnSpc>
                <a:spcPct val="95000"/>
              </a:lnSpc>
            </a:pPr>
            <a:r>
              <a:rPr sz="1050" b="0" i="0">
                <a:solidFill>
                  <a:srgbClr val="5F5F5F"/>
                </a:solidFill>
                <a:latin typeface="Verdana"/>
              </a:rPr>
              <a:t>exact, deterministic</a:t>
            </a:r>
          </a:p>
        </p:txBody>
      </p:sp>
      <p:pic>
        <p:nvPicPr>
          <p:cNvPr id="109" name="Picture 108" descr="settings_A8812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0296144" y="4480559"/>
            <a:ext cx="292608" cy="292608"/>
          </a:xfrm>
          <a:prstGeom prst="rect">
            <a:avLst/>
          </a:prstGeom>
        </p:spPr>
      </p:pic>
      <p:sp>
        <p:nvSpPr>
          <p:cNvPr id="110" name="TextBox 109"/>
          <p:cNvSpPr txBox="1"/>
          <p:nvPr/>
        </p:nvSpPr>
        <p:spPr>
          <a:xfrm>
            <a:off x="10625328" y="4425696"/>
            <a:ext cx="1417320" cy="100584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00" b="0" i="0">
                <a:solidFill>
                  <a:srgbClr val="2B2B2B"/>
                </a:solidFill>
                <a:latin typeface="Verdana"/>
              </a:rPr>
              <a:t>exact binomial vs p0; Fisher's exact test for two arms; modal-vs-runner-up for argmax; floor n ≥ 10</a:t>
            </a:r>
          </a:p>
        </p:txBody>
      </p:sp>
      <p:pic>
        <p:nvPicPr>
          <p:cNvPr id="111" name="Picture 110" descr="circle-check_4F6B75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0296144" y="5413248"/>
            <a:ext cx="201168" cy="201168"/>
          </a:xfrm>
          <a:prstGeom prst="rect">
            <a:avLst/>
          </a:prstGeom>
        </p:spPr>
      </p:pic>
      <p:sp>
        <p:nvSpPr>
          <p:cNvPr id="112" name="TextBox 111"/>
          <p:cNvSpPr txBox="1"/>
          <p:nvPr/>
        </p:nvSpPr>
        <p:spPr>
          <a:xfrm>
            <a:off x="10533888" y="5385816"/>
            <a:ext cx="1463040" cy="25603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2B2B2B"/>
                </a:solidFill>
                <a:latin typeface="Verdana"/>
              </a:rPr>
              <a:t>Supported</a:t>
            </a:r>
          </a:p>
        </p:txBody>
      </p:sp>
      <p:pic>
        <p:nvPicPr>
          <p:cNvPr id="113" name="Picture 112" descr="circle-x_A0522D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10296144" y="5650992"/>
            <a:ext cx="201168" cy="201168"/>
          </a:xfrm>
          <a:prstGeom prst="rect">
            <a:avLst/>
          </a:prstGeom>
        </p:spPr>
      </p:pic>
      <p:sp>
        <p:nvSpPr>
          <p:cNvPr id="114" name="TextBox 113"/>
          <p:cNvSpPr txBox="1"/>
          <p:nvPr/>
        </p:nvSpPr>
        <p:spPr>
          <a:xfrm>
            <a:off x="10533888" y="5623559"/>
            <a:ext cx="1463040" cy="25603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2B2B2B"/>
                </a:solidFill>
                <a:latin typeface="Verdana"/>
              </a:rPr>
              <a:t>Refuted</a:t>
            </a:r>
          </a:p>
        </p:txBody>
      </p:sp>
      <p:pic>
        <p:nvPicPr>
          <p:cNvPr id="115" name="Picture 114" descr="circle-help_A8812E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10296144" y="5888736"/>
            <a:ext cx="201168" cy="201168"/>
          </a:xfrm>
          <a:prstGeom prst="rect">
            <a:avLst/>
          </a:prstGeom>
        </p:spPr>
      </p:pic>
      <p:sp>
        <p:nvSpPr>
          <p:cNvPr id="116" name="TextBox 115"/>
          <p:cNvSpPr txBox="1"/>
          <p:nvPr/>
        </p:nvSpPr>
        <p:spPr>
          <a:xfrm>
            <a:off x="10533888" y="5861303"/>
            <a:ext cx="1463040" cy="25603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2B2B2B"/>
                </a:solidFill>
                <a:latin typeface="Verdana"/>
              </a:rPr>
              <a:t>Insufficient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109728" y="6309360"/>
            <a:ext cx="11972239" cy="1051560"/>
          </a:xfrm>
          <a:prstGeom prst="roundRect">
            <a:avLst>
              <a:gd name="adj" fmla="val 3000"/>
            </a:avLst>
          </a:prstGeom>
          <a:solidFill>
            <a:srgbClr val="ECEA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8" name="Oval 117"/>
          <p:cNvSpPr/>
          <p:nvPr/>
        </p:nvSpPr>
        <p:spPr>
          <a:xfrm>
            <a:off x="237744" y="6601968"/>
            <a:ext cx="420624" cy="420624"/>
          </a:xfrm>
          <a:prstGeom prst="ellipse">
            <a:avLst/>
          </a:prstGeom>
          <a:solidFill>
            <a:srgbClr val="4F6B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Verdana"/>
              </a:rPr>
              <a:t>3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731520" y="6473952"/>
            <a:ext cx="3108960" cy="4572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4F6B75"/>
                </a:solidFill>
                <a:latin typeface="Verdana"/>
              </a:rPr>
              <a:t>Stage-level Evaluation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49808" y="6912864"/>
            <a:ext cx="3108960" cy="32004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F5F5F"/>
                </a:solidFill>
                <a:latin typeface="Verdana"/>
              </a:rPr>
              <a:t>any stage can be set to gold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3657600" y="6400800"/>
            <a:ext cx="2724912" cy="868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B8BE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2" name="Picture 121" descr="file-check_4F6B75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3749039" y="6620256"/>
            <a:ext cx="420624" cy="420624"/>
          </a:xfrm>
          <a:prstGeom prst="rect">
            <a:avLst/>
          </a:prstGeom>
        </p:spPr>
      </p:pic>
      <p:sp>
        <p:nvSpPr>
          <p:cNvPr id="123" name="TextBox 122"/>
          <p:cNvSpPr txBox="1"/>
          <p:nvPr/>
        </p:nvSpPr>
        <p:spPr>
          <a:xfrm>
            <a:off x="4261104" y="6437376"/>
            <a:ext cx="2103120" cy="80467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95000"/>
              </a:lnSpc>
            </a:pPr>
            <a:r>
              <a:rPr sz="1200" b="1" i="0">
                <a:solidFill>
                  <a:srgbClr val="4F6B75"/>
                </a:solidFill>
                <a:latin typeface="Verdana"/>
              </a:rPr>
              <a:t>Plan correctness</a:t>
            </a:r>
          </a:p>
          <a:p>
            <a:pPr algn="l">
              <a:lnSpc>
                <a:spcPct val="95000"/>
              </a:lnSpc>
            </a:pPr>
            <a:r>
              <a:rPr sz="900" b="0" i="0">
                <a:solidFill>
                  <a:srgbClr val="5F5F5F"/>
                </a:solidFill>
                <a:latin typeface="Verdana"/>
              </a:rPr>
              <a:t>plan EM, claim-type EM</a:t>
            </a:r>
          </a:p>
        </p:txBody>
      </p:sp>
      <p:sp>
        <p:nvSpPr>
          <p:cNvPr id="124" name="Rounded Rectangle 123"/>
          <p:cNvSpPr/>
          <p:nvPr/>
        </p:nvSpPr>
        <p:spPr>
          <a:xfrm>
            <a:off x="6473952" y="6400800"/>
            <a:ext cx="2724912" cy="868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B8BE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5" name="Picture 124" descr="database_A0522D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6565392" y="6620256"/>
            <a:ext cx="420624" cy="420624"/>
          </a:xfrm>
          <a:prstGeom prst="rect">
            <a:avLst/>
          </a:prstGeom>
        </p:spPr>
      </p:pic>
      <p:sp>
        <p:nvSpPr>
          <p:cNvPr id="126" name="TextBox 125"/>
          <p:cNvSpPr txBox="1"/>
          <p:nvPr/>
        </p:nvSpPr>
        <p:spPr>
          <a:xfrm>
            <a:off x="7077456" y="6437376"/>
            <a:ext cx="2103120" cy="80467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95000"/>
              </a:lnSpc>
            </a:pPr>
            <a:r>
              <a:rPr sz="1200" b="1" i="0">
                <a:solidFill>
                  <a:srgbClr val="A0522D"/>
                </a:solidFill>
                <a:latin typeface="Verdana"/>
              </a:rPr>
              <a:t>Evidence correctness</a:t>
            </a:r>
          </a:p>
          <a:p>
            <a:pPr algn="l">
              <a:lnSpc>
                <a:spcPct val="95000"/>
              </a:lnSpc>
            </a:pPr>
            <a:r>
              <a:rPr sz="900" b="0" i="0">
                <a:solidFill>
                  <a:srgbClr val="5F5F5F"/>
                </a:solidFill>
                <a:latin typeface="Verdana"/>
              </a:rPr>
              <a:t>evidence F1, co-exist / tie leak, faithfulness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9290304" y="6400800"/>
            <a:ext cx="2724912" cy="868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B8BE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8" name="Picture 127" descr="scale_A8812E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9381744" y="6620256"/>
            <a:ext cx="420624" cy="420624"/>
          </a:xfrm>
          <a:prstGeom prst="rect">
            <a:avLst/>
          </a:prstGeom>
        </p:spPr>
      </p:pic>
      <p:sp>
        <p:nvSpPr>
          <p:cNvPr id="129" name="TextBox 128"/>
          <p:cNvSpPr txBox="1"/>
          <p:nvPr/>
        </p:nvSpPr>
        <p:spPr>
          <a:xfrm>
            <a:off x="9893808" y="6437376"/>
            <a:ext cx="2103120" cy="80467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95000"/>
              </a:lnSpc>
            </a:pPr>
            <a:r>
              <a:rPr sz="1200" b="1" i="0">
                <a:solidFill>
                  <a:srgbClr val="A8812E"/>
                </a:solidFill>
                <a:latin typeface="Verdana"/>
              </a:rPr>
              <a:t>Verdict and abstention</a:t>
            </a:r>
          </a:p>
          <a:p>
            <a:pPr algn="l">
              <a:lnSpc>
                <a:spcPct val="95000"/>
              </a:lnSpc>
            </a:pPr>
            <a:r>
              <a:rPr sz="900" b="0" i="0">
                <a:solidFill>
                  <a:srgbClr val="5F5F5F"/>
                </a:solidFill>
                <a:latin typeface="Verdana"/>
              </a:rPr>
              <a:t>accuracy, macro P/R/F1, overclaim, underclaim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