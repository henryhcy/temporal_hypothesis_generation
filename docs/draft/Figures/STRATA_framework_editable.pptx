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263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228600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19456" y="155448"/>
            <a:ext cx="365760" cy="365760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402336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0522D"/>
                </a:solidFill>
                <a:latin typeface="Arial"/>
              </a:rPr>
              <a:t>STRATA Benchmark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28016"/>
            <a:ext cx="768096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B6B"/>
                </a:solidFill>
                <a:latin typeface="Arial"/>
              </a:rPr>
              <a:t>from annotated clinical timelines to temporal–statistical claims with gold at every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" y="621792"/>
            <a:ext cx="2834640" cy="16824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83464" y="685800"/>
            <a:ext cx="365760" cy="182880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649224"/>
            <a:ext cx="2331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Annotated clinical timelines</a:t>
            </a:r>
            <a:r>
              <a:rPr sz="620" b="0" i="0">
                <a:solidFill>
                  <a:srgbClr val="6B6B6B"/>
                </a:solidFill>
                <a:latin typeface="Arial"/>
              </a:rPr>
              <a:t> (MedTempo)</a:t>
            </a:r>
          </a:p>
        </p:txBody>
      </p:sp>
      <p:pic>
        <p:nvPicPr>
          <p:cNvPr id="9" name="Picture 8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005840"/>
            <a:ext cx="384048" cy="384048"/>
          </a:xfrm>
          <a:prstGeom prst="rect">
            <a:avLst/>
          </a:prstGeom>
        </p:spPr>
      </p:pic>
      <p:pic>
        <p:nvPicPr>
          <p:cNvPr id="10" name="Picture 9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005840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1463040"/>
            <a:ext cx="1234440" cy="7772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3,166 VAERS adverse-event reports (Janssen, Pfizer, Moderna), expert-annotated as a leveled order of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969264"/>
            <a:ext cx="1426464" cy="12618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91056" y="996696"/>
            <a:ext cx="13716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Example timeline</a:t>
            </a:r>
            <a:r>
              <a:rPr sz="620" b="0" i="0">
                <a:solidFill>
                  <a:srgbClr val="6B6B6B"/>
                </a:solidFill>
                <a:latin typeface="Arial"/>
              </a:rPr>
              <a:t> (report MT-0482913)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82496" y="1426464"/>
            <a:ext cx="1188720" cy="0"/>
          </a:xfrm>
          <a:prstGeom prst="line">
            <a:avLst/>
          </a:prstGeom>
          <a:ln w="19050">
            <a:solidFill>
              <a:srgbClr val="4F6B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14500" y="1367028"/>
            <a:ext cx="118872" cy="118872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5" y="1490472"/>
            <a:ext cx="64008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" b="1" i="0">
                <a:solidFill>
                  <a:srgbClr val="4F6B75"/>
                </a:solidFill>
                <a:latin typeface="Arial"/>
              </a:rPr>
              <a:t>Fever</a:t>
            </a:r>
          </a:p>
        </p:txBody>
      </p:sp>
      <p:sp>
        <p:nvSpPr>
          <p:cNvPr id="17" name="Oval 16"/>
          <p:cNvSpPr/>
          <p:nvPr/>
        </p:nvSpPr>
        <p:spPr>
          <a:xfrm>
            <a:off x="2199132" y="1367028"/>
            <a:ext cx="118872" cy="118872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1490472"/>
            <a:ext cx="64008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" b="1" i="0">
                <a:solidFill>
                  <a:srgbClr val="A0522D"/>
                </a:solidFill>
                <a:latin typeface="Arial"/>
              </a:rPr>
              <a:t>Headache</a:t>
            </a:r>
          </a:p>
        </p:txBody>
      </p:sp>
      <p:sp>
        <p:nvSpPr>
          <p:cNvPr id="19" name="Oval 18"/>
          <p:cNvSpPr/>
          <p:nvPr/>
        </p:nvSpPr>
        <p:spPr>
          <a:xfrm>
            <a:off x="2683764" y="1367028"/>
            <a:ext cx="118872" cy="118872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1490472"/>
            <a:ext cx="640080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" b="1" i="0">
                <a:solidFill>
                  <a:srgbClr val="A8812E"/>
                </a:solidFill>
                <a:latin typeface="Arial"/>
              </a:rPr>
              <a:t>Fatigue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1056" y="1719072"/>
            <a:ext cx="1371600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stage → events; the first mention fixes the stage; events at one stage co-exist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90672" y="1444752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28416" y="621792"/>
            <a:ext cx="2651760" cy="16824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3392424" y="685800"/>
            <a:ext cx="365760" cy="182880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649224"/>
            <a:ext cx="2148839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Hypothesis templates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01568" y="950976"/>
          <a:ext cx="2505456" cy="1280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8"/>
                <a:gridCol w="1755648"/>
              </a:tblGrid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82879">
                <a:tc>
                  <a:txBody>
                    <a:bodyPr/>
                    <a:lstStyle/>
                    <a:p>
                      <a:r>
                        <a:rPr sz="660" b="1">
                          <a:solidFill>
                            <a:srgbClr val="2B2B2B"/>
                          </a:solidFill>
                          <a:latin typeface="Arial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60" b="0">
                          <a:solidFill>
                            <a:srgbClr val="2B2B2B"/>
                          </a:solidFill>
                          <a:latin typeface="Arial"/>
                        </a:rPr>
                        <a:t>A precedes B in ≥ 2/3 of reports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6016752" y="1444752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54496" y="621792"/>
            <a:ext cx="2697480" cy="16824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318504" y="685800"/>
            <a:ext cx="365760" cy="182880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649224"/>
            <a:ext cx="219456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Groups, families, levels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950976"/>
            <a:ext cx="2551176" cy="402336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1005840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11696" y="960120"/>
            <a:ext cx="21488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2B2B2B"/>
                </a:solidFill>
                <a:latin typeface="Arial"/>
              </a:rPr>
              <a:t>26 groups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template × scope: 9 report, 16 cohort, 1 two-cohort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7648" y="1389888"/>
            <a:ext cx="2551176" cy="402336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44475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11696" y="1399032"/>
            <a:ext cx="21488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2B2B2B"/>
                </a:solidFill>
                <a:latin typeface="Arial"/>
              </a:rPr>
              <a:t>7 claim families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precedes, co-occurs, sequence, first/last, position, proximity, threshold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1828800"/>
            <a:ext cx="2551176" cy="402336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88366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1696" y="1837943"/>
            <a:ext cx="21488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2B2B2B"/>
                </a:solidFill>
                <a:latin typeface="Arial"/>
              </a:rPr>
              <a:t>3 difficulty levels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Easy: one report · Medium: one cohort · Hard: two cohorts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988552" y="1444752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26296" y="621792"/>
            <a:ext cx="2852928" cy="16824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290304" y="685800"/>
            <a:ext cx="365760" cy="182880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83496" y="649224"/>
            <a:ext cx="235000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Gold annotations</a:t>
            </a:r>
            <a:r>
              <a:rPr sz="620" b="0" i="0">
                <a:solidFill>
                  <a:srgbClr val="6B6B6B"/>
                </a:solidFill>
                <a:latin typeface="Arial"/>
              </a:rPr>
              <a:t> (computed mechanically)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99448" y="950976"/>
            <a:ext cx="877824" cy="109728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024" y="987552"/>
            <a:ext cx="237744" cy="23774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573768" y="969264"/>
            <a:ext cx="603504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1" i="0">
                <a:solidFill>
                  <a:srgbClr val="2B2B2B"/>
                </a:solidFill>
                <a:latin typeface="Arial"/>
              </a:rPr>
              <a:t>Plan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1225296"/>
            <a:ext cx="841248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events, quantity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denominator primitive, arms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null kind, p0, tail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test family, floor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213848" y="950976"/>
            <a:ext cx="877824" cy="109728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0424" y="987552"/>
            <a:ext cx="237744" cy="23774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488168" y="969264"/>
            <a:ext cx="603504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1" i="0">
                <a:solidFill>
                  <a:srgbClr val="2B2B2B"/>
                </a:solidFill>
                <a:latin typeface="Arial"/>
              </a:rPr>
              <a:t>Evidence sets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1225296"/>
            <a:ext cx="841248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denominator ids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numerator ids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excluded ids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n, k per arm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128248" y="950976"/>
            <a:ext cx="877824" cy="109728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64824" y="987552"/>
            <a:ext cx="237744" cy="23774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402568" y="969264"/>
            <a:ext cx="603504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1" i="0">
                <a:solidFill>
                  <a:srgbClr val="2B2B2B"/>
                </a:solidFill>
                <a:latin typeface="Arial"/>
              </a:rPr>
              <a:t>Statistics, verdict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1225296"/>
            <a:ext cx="841248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p on both tails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Wilson CI, Cohen's h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supported / refuted /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insufficient (sub-typed)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99448" y="2066544"/>
            <a:ext cx="2724912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1">
                <a:solidFill>
                  <a:srgbClr val="6B6B6B"/>
                </a:solidFill>
                <a:latin typeface="Arial"/>
              </a:rPr>
              <a:t>validated by six invariant families and a deterministic oracle; screened against permutation nulls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9728" y="2450592"/>
            <a:ext cx="11969496" cy="2523744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19456" y="2514600"/>
            <a:ext cx="365760" cy="365760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2487168"/>
            <a:ext cx="402336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0522D"/>
                </a:solidFill>
                <a:latin typeface="Arial"/>
              </a:rPr>
              <a:t>ART Verification Pipeline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97680" y="2487168"/>
            <a:ext cx="768096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B6B"/>
                </a:solidFill>
                <a:latin typeface="Arial"/>
              </a:rPr>
              <a:t>from a natural-language claim to a verified verdict with auditable evidence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9456" y="2971800"/>
            <a:ext cx="210312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274320" y="3008376"/>
            <a:ext cx="2011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Inputs to the system</a:t>
            </a:r>
          </a:p>
        </p:txBody>
      </p:sp>
      <p:pic>
        <p:nvPicPr>
          <p:cNvPr id="63" name="Picture 62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264408"/>
            <a:ext cx="310896" cy="31089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58368" y="3246120"/>
            <a:ext cx="1627632" cy="40233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a claim in natural language, with its cohort and level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703320"/>
            <a:ext cx="2011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Arial"/>
              </a:rPr>
              <a:t>Auxiliary resources (to S1)</a:t>
            </a:r>
          </a:p>
        </p:txBody>
      </p:sp>
      <p:pic>
        <p:nvPicPr>
          <p:cNvPr id="66" name="Picture 65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3959352"/>
            <a:ext cx="310896" cy="310896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58368" y="3922776"/>
            <a:ext cx="162763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codebook: the corpus stipulations as text; null sources; test definitions; dataset card</a:t>
            </a:r>
          </a:p>
        </p:txBody>
      </p:sp>
      <p:pic>
        <p:nvPicPr>
          <p:cNvPr id="68" name="Picture 67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4434840"/>
            <a:ext cx="310896" cy="31089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58368" y="4398264"/>
            <a:ext cx="162763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annotation DB: report, vaccine, term, first-mention stage (ids pseudonymised)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340864" y="3429000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40864" y="4160520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2578608" y="2971800"/>
            <a:ext cx="4389120" cy="192024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2651760" y="3026664"/>
            <a:ext cx="438912" cy="438912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S1</a:t>
            </a:r>
          </a:p>
          <a:p>
            <a:pPr algn="ctr"/>
            <a:r>
              <a:rPr sz="55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27248" y="2999232"/>
            <a:ext cx="379476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F6B75"/>
                </a:solidFill>
                <a:latin typeface="Arial"/>
              </a:rPr>
              <a:t>Articulate</a:t>
            </a:r>
          </a:p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6B6B6B"/>
                </a:solidFill>
                <a:latin typeface="Arial"/>
              </a:rPr>
              <a:t>form a structured plan; the claim-type mapping is withheld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51760" y="3502152"/>
            <a:ext cx="10058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2697479" y="3547872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26079" y="3520440"/>
            <a:ext cx="7315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Parse the claim</a:t>
            </a:r>
          </a:p>
        </p:txBody>
      </p:sp>
      <p:pic>
        <p:nvPicPr>
          <p:cNvPr id="78" name="Picture 77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6624" y="3794760"/>
            <a:ext cx="237744" cy="23774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962656" y="3776472"/>
            <a:ext cx="69494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events, cohort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quantity, direction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657600" y="3950208"/>
            <a:ext cx="54863" cy="0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3712463" y="3502152"/>
            <a:ext cx="10058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3758183" y="3547872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3520440"/>
            <a:ext cx="7315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Choose the primitive</a:t>
            </a:r>
          </a:p>
        </p:txBody>
      </p:sp>
      <p:pic>
        <p:nvPicPr>
          <p:cNvPr id="84" name="Picture 83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7327" y="3794760"/>
            <a:ext cx="237744" cy="23774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023359" y="3776472"/>
            <a:ext cx="69494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denominator rule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number of arms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718304" y="3950208"/>
            <a:ext cx="54864" cy="0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4773168" y="3502152"/>
            <a:ext cx="10058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4818888" y="3547872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47488" y="3520440"/>
            <a:ext cx="7315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Compose the plan</a:t>
            </a:r>
          </a:p>
        </p:txBody>
      </p:sp>
      <p:pic>
        <p:nvPicPr>
          <p:cNvPr id="90" name="Picture 89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8031" y="3794760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084064" y="3776472"/>
            <a:ext cx="69494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null kind, p0, tail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test family, floor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779008" y="3950208"/>
            <a:ext cx="54864" cy="0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5833871" y="3502152"/>
            <a:ext cx="10058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879591" y="3547872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08191" y="3520440"/>
            <a:ext cx="7315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Verify, 1 round</a:t>
            </a:r>
          </a:p>
        </p:txBody>
      </p:sp>
      <p:pic>
        <p:nvPicPr>
          <p:cNvPr id="96" name="Picture 95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88735" y="3794760"/>
            <a:ext cx="237744" cy="237744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144767" y="3776472"/>
            <a:ext cx="694944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plan vs the codebook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re-ask once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51760" y="4462272"/>
            <a:ext cx="4242816" cy="365760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2706624" y="4471416"/>
            <a:ext cx="4151376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Arial"/>
              </a:rPr>
              <a:t>Contract: </a:t>
            </a:r>
            <a:r>
              <a:rPr sz="700" b="0" i="0">
                <a:solidFill>
                  <a:srgbClr val="2B2B2B"/>
                </a:solidFill>
                <a:latin typeface="Arial"/>
              </a:rPr>
              <a:t>the harness resolves the plan's primitive into its exact rule and states it to S2, so S2 implements a definition rather than interpreting advice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986016" y="3931920"/>
            <a:ext cx="201168" cy="0"/>
          </a:xfrm>
          <a:prstGeom prst="line">
            <a:avLst/>
          </a:prstGeom>
          <a:ln w="25400">
            <a:solidFill>
              <a:srgbClr val="A0522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7223760" y="2971800"/>
            <a:ext cx="2542032" cy="1920240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7296912" y="3026664"/>
            <a:ext cx="438912" cy="438912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S2</a:t>
            </a:r>
          </a:p>
          <a:p>
            <a:pPr algn="ctr"/>
            <a:r>
              <a:rPr sz="55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72400" y="2999232"/>
            <a:ext cx="196596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0522D"/>
                </a:solidFill>
                <a:latin typeface="Arial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6B6B6B"/>
                </a:solidFill>
                <a:latin typeface="Arial"/>
              </a:rPr>
              <a:t>plan to evidence sets</a:t>
            </a:r>
          </a:p>
        </p:txBody>
      </p:sp>
      <p:pic>
        <p:nvPicPr>
          <p:cNvPr id="104" name="Picture 103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96912" y="3538728"/>
            <a:ext cx="274320" cy="2743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7626096" y="3520440"/>
            <a:ext cx="210312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told the schema (column listing) and the contract; writes one SQL per arm, one row per report: in_den, in_num, excl</a:t>
            </a:r>
          </a:p>
        </p:txBody>
      </p:sp>
      <p:pic>
        <p:nvPicPr>
          <p:cNvPr id="106" name="Picture 105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96912" y="3995927"/>
            <a:ext cx="274320" cy="27432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7626096" y="3977639"/>
            <a:ext cx="210312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sandbox: read-only execution → n, k and report-id sets per arm</a:t>
            </a:r>
          </a:p>
        </p:txBody>
      </p:sp>
      <p:pic>
        <p:nvPicPr>
          <p:cNvPr id="108" name="Picture 107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96912" y="4407407"/>
            <a:ext cx="274320" cy="27432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626096" y="4389120"/>
            <a:ext cx="210312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verify, up to 2 rounds: rejected SQL, n = k, empty arm, co-exist / tie / adjacency leaks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784080" y="3931920"/>
            <a:ext cx="20116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10021824" y="2971800"/>
            <a:ext cx="2057400" cy="192024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10094976" y="3026664"/>
            <a:ext cx="438912" cy="438912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S3</a:t>
            </a:r>
          </a:p>
          <a:p>
            <a:pPr algn="ctr"/>
            <a:r>
              <a:rPr sz="550">
                <a:solidFill>
                  <a:srgbClr val="FFFFFF"/>
                </a:solidFill>
                <a:latin typeface="Arial"/>
              </a:rPr>
              <a:t>function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70464" y="2999232"/>
            <a:ext cx="148132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8812E"/>
                </a:solidFill>
                <a:latin typeface="Arial"/>
              </a:rPr>
              <a:t>Test</a:t>
            </a:r>
          </a:p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6B6B6B"/>
                </a:solidFill>
                <a:latin typeface="Arial"/>
              </a:rPr>
              <a:t>exact, deterministic</a:t>
            </a:r>
          </a:p>
        </p:txBody>
      </p:sp>
      <p:pic>
        <p:nvPicPr>
          <p:cNvPr id="114" name="Picture 113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94976" y="3538728"/>
            <a:ext cx="274320" cy="27432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424160" y="3502152"/>
            <a:ext cx="1627632" cy="9144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exact binomial vs p0 (fixed, text-stated or data-derived)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Fisher's exact test, two arms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modal-vs-runner-up, argmax</a:t>
            </a:r>
          </a:p>
          <a:p>
            <a:pPr algn="l">
              <a:lnSpc>
                <a:spcPct val="100000"/>
              </a:lnSpc>
            </a:pPr>
            <a:r>
              <a:rPr sz="620" b="0" i="0">
                <a:solidFill>
                  <a:srgbClr val="2B2B2B"/>
                </a:solidFill>
                <a:latin typeface="Arial"/>
              </a:rPr>
              <a:t>• floor n ≥ 10; both tails</a:t>
            </a:r>
          </a:p>
        </p:txBody>
      </p:sp>
      <p:pic>
        <p:nvPicPr>
          <p:cNvPr id="116" name="Picture 115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076688" y="4471416"/>
            <a:ext cx="219456" cy="219456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296144" y="4462272"/>
            <a:ext cx="60350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1" i="0">
                <a:solidFill>
                  <a:srgbClr val="2B2B2B"/>
                </a:solidFill>
                <a:latin typeface="Arial"/>
              </a:rPr>
              <a:t>Supported</a:t>
            </a:r>
          </a:p>
        </p:txBody>
      </p:sp>
      <p:pic>
        <p:nvPicPr>
          <p:cNvPr id="118" name="Picture 117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35056" y="4471416"/>
            <a:ext cx="219456" cy="219456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954512" y="4462272"/>
            <a:ext cx="51206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1" i="0">
                <a:solidFill>
                  <a:srgbClr val="2B2B2B"/>
                </a:solidFill>
                <a:latin typeface="Arial"/>
              </a:rPr>
              <a:t>Refuted</a:t>
            </a:r>
          </a:p>
        </p:txBody>
      </p:sp>
      <p:pic>
        <p:nvPicPr>
          <p:cNvPr id="120" name="Picture 119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01984" y="4471416"/>
            <a:ext cx="219456" cy="21945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1521440" y="4462272"/>
            <a:ext cx="7315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0" b="1" i="0">
                <a:solidFill>
                  <a:srgbClr val="2B2B2B"/>
                </a:solidFill>
                <a:latin typeface="Arial"/>
              </a:rPr>
              <a:t>Insufficient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76688" y="4690872"/>
            <a:ext cx="1965960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" b="0" i="0">
                <a:solidFill>
                  <a:srgbClr val="6B6B6B"/>
                </a:solidFill>
                <a:latin typeface="Arial"/>
              </a:rPr>
              <a:t>insufficient: not-locatable / sparse / underpowered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9728" y="5047488"/>
            <a:ext cx="11969496" cy="1115568"/>
          </a:xfrm>
          <a:prstGeom prst="roundRect">
            <a:avLst>
              <a:gd name="adj" fmla="val 3000"/>
            </a:avLst>
          </a:prstGeom>
          <a:solidFill>
            <a:srgbClr val="EC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219456" y="5285232"/>
            <a:ext cx="365760" cy="36576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0080" y="5230368"/>
            <a:ext cx="228600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F6B75"/>
                </a:solidFill>
                <a:latin typeface="Arial"/>
              </a:rPr>
              <a:t>Stage-level Evaluation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" y="5650992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B6B6B"/>
                </a:solidFill>
                <a:latin typeface="Arial"/>
              </a:rPr>
              <a:t>any stage can be set to gold to isolate the others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017520" y="5138928"/>
            <a:ext cx="2944368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08960" y="5394960"/>
            <a:ext cx="402336" cy="402336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3584448" y="5175504"/>
            <a:ext cx="2331720" cy="8778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F6B75"/>
                </a:solidFill>
                <a:latin typeface="Arial"/>
              </a:rPr>
              <a:t>Plan correctness</a:t>
            </a:r>
          </a:p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the plan against the gold plan</a:t>
            </a:r>
          </a:p>
          <a:p>
            <a:pPr algn="l">
              <a:lnSpc>
                <a:spcPct val="105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plan EM, claim-type EM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053327" y="5138928"/>
            <a:ext cx="2944368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1" name="Picture 130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44767" y="5394960"/>
            <a:ext cx="402336" cy="402336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6620255" y="5175504"/>
            <a:ext cx="2331720" cy="8778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A0522D"/>
                </a:solidFill>
                <a:latin typeface="Arial"/>
              </a:rPr>
              <a:t>Evidence correctness</a:t>
            </a:r>
          </a:p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the retrieved report sets against the gold sets</a:t>
            </a:r>
          </a:p>
          <a:p>
            <a:pPr algn="l">
              <a:lnSpc>
                <a:spcPct val="105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evidence F1, co-exist / tie leak, faithfulness P(evidence exact | verdict right)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089136" y="5138928"/>
            <a:ext cx="2944368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" name="Picture 133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80576" y="5394960"/>
            <a:ext cx="402336" cy="402336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656063" y="5175504"/>
            <a:ext cx="2331720" cy="8778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A8812E"/>
                </a:solidFill>
                <a:latin typeface="Arial"/>
              </a:rPr>
              <a:t>Verdict and abstention</a:t>
            </a:r>
          </a:p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2B2B2B"/>
                </a:solidFill>
                <a:latin typeface="Arial"/>
              </a:rPr>
              <a:t>the test and verdict against the gold</a:t>
            </a:r>
          </a:p>
          <a:p>
            <a:pPr algn="l">
              <a:lnSpc>
                <a:spcPct val="105000"/>
              </a:lnSpc>
            </a:pPr>
            <a:r>
              <a:rPr sz="620" b="0" i="0">
                <a:solidFill>
                  <a:srgbClr val="6B6B6B"/>
                </a:solidFill>
                <a:latin typeface="Arial"/>
              </a:rPr>
              <a:t>accuracy, macro P/R/F1, p-agreement, overclaim, underclaim, sub-type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