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57332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" y="73152"/>
            <a:ext cx="9875520" cy="2286000"/>
          </a:xfrm>
          <a:prstGeom prst="roundRect">
            <a:avLst>
              <a:gd name="adj" fmla="val 3000"/>
            </a:avLst>
          </a:prstGeom>
          <a:solidFill>
            <a:srgbClr val="E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237744" y="118872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omic Sans M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Times New Roman"/>
              </a:rPr>
              <a:t>STRATA Benchmark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566928"/>
            <a:ext cx="1965960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56032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03504"/>
            <a:ext cx="1344167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Clinical timelines</a:t>
            </a:r>
          </a:p>
        </p:txBody>
      </p:sp>
      <p:pic>
        <p:nvPicPr>
          <p:cNvPr id="8" name="Picture 7" descr="clipboard-plus_A05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9264"/>
            <a:ext cx="329184" cy="329184"/>
          </a:xfrm>
          <a:prstGeom prst="rect">
            <a:avLst/>
          </a:prstGeom>
        </p:spPr>
      </p:pic>
      <p:pic>
        <p:nvPicPr>
          <p:cNvPr id="9" name="Picture 8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969264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24128" y="914400"/>
            <a:ext cx="1069848" cy="6583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 i="0">
                <a:solidFill>
                  <a:srgbClr val="2B2B2B"/>
                </a:solidFill>
                <a:latin typeface="Comic Sans MS"/>
              </a:rPr>
              <a:t>3,166 VAERS reports, 3 vaccines (MedTempo)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609343"/>
            <a:ext cx="17830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F5F5F"/>
                </a:solidFill>
                <a:latin typeface="Comic Sans MS"/>
              </a:rPr>
              <a:t>one stage per circle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4048" y="1938528"/>
            <a:ext cx="1563624" cy="0"/>
          </a:xfrm>
          <a:prstGeom prst="line">
            <a:avLst/>
          </a:prstGeom>
          <a:ln w="22225">
            <a:solidFill>
              <a:srgbClr val="4F6B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02336" y="1865376"/>
            <a:ext cx="146304" cy="14630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" y="2029968"/>
            <a:ext cx="9144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4F6B75"/>
                </a:solidFill>
                <a:latin typeface="Comic Sans MS"/>
              </a:rPr>
              <a:t>Fever</a:t>
            </a:r>
          </a:p>
        </p:txBody>
      </p:sp>
      <p:sp>
        <p:nvSpPr>
          <p:cNvPr id="15" name="Oval 14"/>
          <p:cNvSpPr/>
          <p:nvPr/>
        </p:nvSpPr>
        <p:spPr>
          <a:xfrm>
            <a:off x="1092707" y="1865376"/>
            <a:ext cx="146304" cy="14630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2029968"/>
            <a:ext cx="9144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A0522D"/>
                </a:solidFill>
                <a:latin typeface="Comic Sans MS"/>
              </a:rPr>
              <a:t>Headache</a:t>
            </a:r>
          </a:p>
        </p:txBody>
      </p:sp>
      <p:sp>
        <p:nvSpPr>
          <p:cNvPr id="17" name="Oval 16"/>
          <p:cNvSpPr/>
          <p:nvPr/>
        </p:nvSpPr>
        <p:spPr>
          <a:xfrm>
            <a:off x="1783079" y="1865376"/>
            <a:ext cx="146304" cy="146304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2029968"/>
            <a:ext cx="91440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A8812E"/>
                </a:solidFill>
                <a:latin typeface="Comic Sans MS"/>
              </a:rPr>
              <a:t>Fatigue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67128" y="1417320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350008" y="566928"/>
            <a:ext cx="2880360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2423160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6936" y="603504"/>
            <a:ext cx="225856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Hypothesis templates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423160" y="950976"/>
          <a:ext cx="2734056" cy="1243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1865376"/>
              </a:tblGrid>
              <a:tr h="17765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B2B2B"/>
                          </a:solidFill>
                          <a:latin typeface="Comic Sans MS"/>
                        </a:rPr>
                        <a:t>Precedes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B2B2B"/>
                          </a:solidFill>
                          <a:latin typeface="Comic Sans MS"/>
                        </a:rPr>
                        <a:t>A tends to precede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7765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B2B2B"/>
                          </a:solidFill>
                          <a:latin typeface="Comic Sans MS"/>
                        </a:rPr>
                        <a:t>Co-occurs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B2B2B"/>
                          </a:solidFill>
                          <a:latin typeface="Comic Sans MS"/>
                        </a:rPr>
                        <a:t>A and B tend to co-occur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7765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B2B2B"/>
                          </a:solidFill>
                          <a:latin typeface="Comic Sans MS"/>
                        </a:rPr>
                        <a:t>Sequence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B2B2B"/>
                          </a:solidFill>
                          <a:latin typeface="Comic Sans MS"/>
                        </a:rPr>
                        <a:t>A, then B, then C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7765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B2B2B"/>
                          </a:solidFill>
                          <a:latin typeface="Comic Sans MS"/>
                        </a:rPr>
                        <a:t>First / Last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B2B2B"/>
                          </a:solidFill>
                          <a:latin typeface="Comic Sans MS"/>
                        </a:rPr>
                        <a:t>A is most often first (last)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7765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B2B2B"/>
                          </a:solidFill>
                          <a:latin typeface="Comic Sans MS"/>
                        </a:rPr>
                        <a:t>Position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B2B2B"/>
                          </a:solidFill>
                          <a:latin typeface="Comic Sans MS"/>
                        </a:rPr>
                        <a:t>A falls in the earlier half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7765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B2B2B"/>
                          </a:solidFill>
                          <a:latin typeface="Comic Sans MS"/>
                        </a:rPr>
                        <a:t>Proximity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B2B2B"/>
                          </a:solidFill>
                          <a:latin typeface="Comic Sans MS"/>
                        </a:rPr>
                        <a:t>A occurs right before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17765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B2B2B"/>
                          </a:solidFill>
                          <a:latin typeface="Comic Sans MS"/>
                        </a:rPr>
                        <a:t>Threshold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B2B2B"/>
                          </a:solidFill>
                          <a:latin typeface="Comic Sans MS"/>
                        </a:rPr>
                        <a:t>A precedes B in ≥ 2/3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4" name="Connector 23"/>
          <p:cNvCxnSpPr/>
          <p:nvPr/>
        </p:nvCxnSpPr>
        <p:spPr>
          <a:xfrm>
            <a:off x="5248655" y="1417320"/>
            <a:ext cx="164593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31536" y="566928"/>
            <a:ext cx="2103120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504688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603504"/>
            <a:ext cx="1481327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Groups and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04688" y="950976"/>
            <a:ext cx="1956815" cy="402336"/>
          </a:xfrm>
          <a:prstGeom prst="roundRect">
            <a:avLst>
              <a:gd name="adj" fmla="val 12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brain_4F6B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408" y="1014984"/>
            <a:ext cx="256032" cy="25603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870448" y="950976"/>
            <a:ext cx="1572767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26 groups</a:t>
            </a:r>
          </a:p>
          <a:p>
            <a:pPr algn="l">
              <a:lnSpc>
                <a:spcPct val="85000"/>
              </a:lnSpc>
            </a:pPr>
            <a:r>
              <a:rPr sz="1050" b="0" i="0">
                <a:solidFill>
                  <a:srgbClr val="5F5F5F"/>
                </a:solidFill>
                <a:latin typeface="Comic Sans MS"/>
              </a:rPr>
              <a:t>9 report, 17 cohort-level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04688" y="1380744"/>
            <a:ext cx="1956815" cy="402336"/>
          </a:xfrm>
          <a:prstGeom prst="roundRect">
            <a:avLst>
              <a:gd name="adj" fmla="val 12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network_4F6B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408" y="1444752"/>
            <a:ext cx="256032" cy="2560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870448" y="1380744"/>
            <a:ext cx="1572767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7 claim families</a:t>
            </a:r>
          </a:p>
          <a:p>
            <a:pPr algn="l">
              <a:lnSpc>
                <a:spcPct val="85000"/>
              </a:lnSpc>
            </a:pPr>
            <a:r>
              <a:rPr sz="1050" b="0" i="0">
                <a:solidFill>
                  <a:srgbClr val="5F5F5F"/>
                </a:solidFill>
                <a:latin typeface="Comic Sans MS"/>
              </a:rPr>
              <a:t>order, timing, position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04688" y="1810512"/>
            <a:ext cx="1956815" cy="402336"/>
          </a:xfrm>
          <a:prstGeom prst="roundRect">
            <a:avLst>
              <a:gd name="adj" fmla="val 12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chart-no-axes-column_4F6B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0408" y="1874519"/>
            <a:ext cx="256032" cy="25603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870448" y="1810512"/>
            <a:ext cx="1572767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3 difficulty levels</a:t>
            </a:r>
          </a:p>
          <a:p>
            <a:pPr algn="l">
              <a:lnSpc>
                <a:spcPct val="85000"/>
              </a:lnSpc>
            </a:pPr>
            <a:r>
              <a:rPr sz="1050" b="0" i="0">
                <a:solidFill>
                  <a:srgbClr val="5F5F5F"/>
                </a:solidFill>
                <a:latin typeface="Comic Sans MS"/>
              </a:rPr>
              <a:t>Easy, Medium, Hard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52944" y="1417320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735824" y="566928"/>
            <a:ext cx="2139696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808976" y="640080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603504"/>
            <a:ext cx="1517903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Gold at every stage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08976" y="950976"/>
            <a:ext cx="1993391" cy="402336"/>
          </a:xfrm>
          <a:prstGeom prst="roundRect">
            <a:avLst>
              <a:gd name="adj" fmla="val 12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file-check_A881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4696" y="1014984"/>
            <a:ext cx="256032" cy="25603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74736" y="950976"/>
            <a:ext cx="1609343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Plan</a:t>
            </a:r>
          </a:p>
          <a:p>
            <a:pPr algn="l">
              <a:lnSpc>
                <a:spcPct val="85000"/>
              </a:lnSpc>
            </a:pPr>
            <a:r>
              <a:rPr sz="1050" b="0" i="0">
                <a:solidFill>
                  <a:srgbClr val="5F5F5F"/>
                </a:solidFill>
                <a:latin typeface="Comic Sans MS"/>
              </a:rPr>
              <a:t>rule, null, test, floor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08976" y="1380744"/>
            <a:ext cx="1993391" cy="402336"/>
          </a:xfrm>
          <a:prstGeom prst="roundRect">
            <a:avLst>
              <a:gd name="adj" fmla="val 12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database_A881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4696" y="1444752"/>
            <a:ext cx="256032" cy="25603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174736" y="1380744"/>
            <a:ext cx="1609343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Evidence</a:t>
            </a:r>
          </a:p>
          <a:p>
            <a:pPr algn="l">
              <a:lnSpc>
                <a:spcPct val="85000"/>
              </a:lnSpc>
            </a:pPr>
            <a:r>
              <a:rPr sz="1050" b="0" i="0">
                <a:solidFill>
                  <a:srgbClr val="5F5F5F"/>
                </a:solidFill>
                <a:latin typeface="Comic Sans MS"/>
              </a:rPr>
              <a:t>report ids per arm; n, 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08976" y="1810512"/>
            <a:ext cx="1993391" cy="402336"/>
          </a:xfrm>
          <a:prstGeom prst="roundRect">
            <a:avLst>
              <a:gd name="adj" fmla="val 12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chart-bar_A881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4696" y="1874519"/>
            <a:ext cx="256032" cy="25603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174736" y="1810512"/>
            <a:ext cx="1609343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Statistics, verdict</a:t>
            </a:r>
          </a:p>
          <a:p>
            <a:pPr algn="l">
              <a:lnSpc>
                <a:spcPct val="85000"/>
              </a:lnSpc>
            </a:pPr>
            <a:r>
              <a:rPr sz="1050" b="0" i="0">
                <a:solidFill>
                  <a:srgbClr val="5F5F5F"/>
                </a:solidFill>
                <a:latin typeface="Comic Sans MS"/>
              </a:rPr>
              <a:t>p, Wilson CI, Cohen's 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" y="2432304"/>
            <a:ext cx="9875520" cy="3118104"/>
          </a:xfrm>
          <a:prstGeom prst="roundRect">
            <a:avLst>
              <a:gd name="adj" fmla="val 3000"/>
            </a:avLst>
          </a:prstGeom>
          <a:solidFill>
            <a:srgbClr val="F1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37744" y="2478024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omic Sans M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2450592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Times New Roman"/>
              </a:rPr>
              <a:t>ART Verification Pipeline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2880" y="2889504"/>
            <a:ext cx="1371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37744" y="2926080"/>
            <a:ext cx="1261872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Inputs</a:t>
            </a:r>
          </a:p>
        </p:txBody>
      </p:sp>
      <p:pic>
        <p:nvPicPr>
          <p:cNvPr id="55" name="Picture 54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3346704"/>
            <a:ext cx="274320" cy="2743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85216" y="3328416"/>
            <a:ext cx="914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B2B2B"/>
                </a:solidFill>
                <a:latin typeface="Comic Sans MS"/>
              </a:rPr>
              <a:t>claim, cohort</a:t>
            </a:r>
          </a:p>
        </p:txBody>
      </p:sp>
      <p:pic>
        <p:nvPicPr>
          <p:cNvPr id="57" name="Picture 56" descr="list-checks_4F6B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6032" y="3767328"/>
            <a:ext cx="274320" cy="2743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85216" y="3749040"/>
            <a:ext cx="914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B2B2B"/>
                </a:solidFill>
                <a:latin typeface="Comic Sans MS"/>
              </a:rPr>
              <a:t>codebook</a:t>
            </a:r>
          </a:p>
        </p:txBody>
      </p:sp>
      <p:pic>
        <p:nvPicPr>
          <p:cNvPr id="59" name="Picture 58" descr="database_4F6B7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032" y="4187952"/>
            <a:ext cx="274320" cy="2743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5216" y="4169664"/>
            <a:ext cx="914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B2B2B"/>
                </a:solidFill>
                <a:latin typeface="Comic Sans MS"/>
              </a:rPr>
              <a:t>timeline DB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572768" y="3826764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1755648" y="2889504"/>
            <a:ext cx="3657600" cy="1874519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1828800" y="2953512"/>
            <a:ext cx="420624" cy="42062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mic Sans MS"/>
              </a:rPr>
              <a:t>S1</a:t>
            </a:r>
          </a:p>
          <a:p>
            <a:pPr algn="ctr"/>
            <a:r>
              <a:rPr sz="600">
                <a:solidFill>
                  <a:srgbClr val="FFFFFF"/>
                </a:solidFill>
                <a:latin typeface="Comic Sans MS"/>
              </a:rPr>
              <a:t>LLM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2576" y="2926080"/>
            <a:ext cx="303580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400" b="1" i="0">
                <a:solidFill>
                  <a:srgbClr val="4F6B75"/>
                </a:solidFill>
                <a:latin typeface="Times New Roman"/>
              </a:rPr>
              <a:t>Articulate</a:t>
            </a:r>
          </a:p>
          <a:p>
            <a:pPr algn="l">
              <a:lnSpc>
                <a:spcPct val="90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a structured plan; the mapping is withheld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828800" y="3456432"/>
            <a:ext cx="17190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1883664" y="3584448"/>
            <a:ext cx="201168" cy="20116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39696" y="3456432"/>
            <a:ext cx="1389888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Parse</a:t>
            </a:r>
          </a:p>
          <a:p>
            <a:pPr algn="l">
              <a:lnSpc>
                <a:spcPct val="85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events, cohort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547872" y="3685032"/>
            <a:ext cx="73152" cy="0"/>
          </a:xfrm>
          <a:prstGeom prst="line">
            <a:avLst/>
          </a:prstGeom>
          <a:ln w="12700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621024" y="3456432"/>
            <a:ext cx="17190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3675887" y="3584448"/>
            <a:ext cx="201168" cy="20116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31920" y="3456432"/>
            <a:ext cx="1389888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Primitive</a:t>
            </a:r>
          </a:p>
          <a:p>
            <a:pPr algn="l">
              <a:lnSpc>
                <a:spcPct val="85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denominator rule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828800" y="3968496"/>
            <a:ext cx="17190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1883664" y="4096511"/>
            <a:ext cx="201168" cy="20116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39696" y="3968496"/>
            <a:ext cx="1389888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Compose</a:t>
            </a:r>
          </a:p>
          <a:p>
            <a:pPr algn="l">
              <a:lnSpc>
                <a:spcPct val="85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null, p0, test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547872" y="4197096"/>
            <a:ext cx="73152" cy="0"/>
          </a:xfrm>
          <a:prstGeom prst="line">
            <a:avLst/>
          </a:prstGeom>
          <a:ln w="12700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3621024" y="3968496"/>
            <a:ext cx="171907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3675887" y="4096511"/>
            <a:ext cx="201168" cy="20116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omic Sans MS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31920" y="3968496"/>
            <a:ext cx="1389888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85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Verify</a:t>
            </a:r>
          </a:p>
          <a:p>
            <a:pPr algn="l">
              <a:lnSpc>
                <a:spcPct val="85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one round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828800" y="4480560"/>
            <a:ext cx="3511296" cy="246888"/>
          </a:xfrm>
          <a:prstGeom prst="roundRect">
            <a:avLst>
              <a:gd name="adj" fmla="val 12000"/>
            </a:avLst>
          </a:prstGeom>
          <a:solidFill>
            <a:srgbClr val="F1E2DA"/>
          </a:solidFill>
          <a:ln w="1016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865376" y="4480560"/>
            <a:ext cx="3438144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A0522D"/>
                </a:solidFill>
                <a:latin typeface="Comic Sans MS"/>
              </a:rPr>
              <a:t>Contract: </a:t>
            </a:r>
            <a:r>
              <a:rPr sz="1100" b="0" i="0">
                <a:solidFill>
                  <a:srgbClr val="2B2B2B"/>
                </a:solidFill>
                <a:latin typeface="Comic Sans MS"/>
              </a:rPr>
              <a:t>harness expands the primitive to its rule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431536" y="3826764"/>
            <a:ext cx="164592" cy="0"/>
          </a:xfrm>
          <a:prstGeom prst="line">
            <a:avLst/>
          </a:prstGeom>
          <a:ln w="25400">
            <a:solidFill>
              <a:srgbClr val="A0522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5614416" y="2889504"/>
            <a:ext cx="2286000" cy="1874519"/>
          </a:xfrm>
          <a:prstGeom prst="roundRect">
            <a:avLst>
              <a:gd name="adj" fmla="val 5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5687568" y="2953512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mic Sans MS"/>
              </a:rPr>
              <a:t>S2</a:t>
            </a:r>
          </a:p>
          <a:p>
            <a:pPr algn="ctr"/>
            <a:r>
              <a:rPr sz="600">
                <a:solidFill>
                  <a:srgbClr val="FFFFFF"/>
                </a:solidFill>
                <a:latin typeface="Comic Sans MS"/>
              </a:rPr>
              <a:t>LLM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81344" y="2926080"/>
            <a:ext cx="1664207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400" b="1" i="0">
                <a:solidFill>
                  <a:srgbClr val="A0522D"/>
                </a:solidFill>
                <a:latin typeface="Times New Roman"/>
              </a:rPr>
              <a:t>Retrieve</a:t>
            </a:r>
          </a:p>
          <a:p>
            <a:pPr algn="l">
              <a:lnSpc>
                <a:spcPct val="90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plan to evidence sets</a:t>
            </a:r>
          </a:p>
        </p:txBody>
      </p:sp>
      <p:pic>
        <p:nvPicPr>
          <p:cNvPr id="85" name="Picture 84" descr="code_A0522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5855" y="3547872"/>
            <a:ext cx="256032" cy="2560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6016752" y="3529584"/>
            <a:ext cx="18288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2B2B"/>
                </a:solidFill>
                <a:latin typeface="Comic Sans MS"/>
              </a:rPr>
              <a:t>one SQL per arm</a:t>
            </a:r>
          </a:p>
        </p:txBody>
      </p:sp>
      <p:pic>
        <p:nvPicPr>
          <p:cNvPr id="87" name="Picture 86" descr="table-2_A0522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05855" y="3931920"/>
            <a:ext cx="256032" cy="25603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6016752" y="3913632"/>
            <a:ext cx="18288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2B2B"/>
                </a:solidFill>
                <a:latin typeface="Comic Sans MS"/>
              </a:rPr>
              <a:t>sandbox: n, k, report ids</a:t>
            </a:r>
          </a:p>
        </p:txBody>
      </p:sp>
      <p:pic>
        <p:nvPicPr>
          <p:cNvPr id="89" name="Picture 88" descr="timer-reset_A0522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05855" y="4315968"/>
            <a:ext cx="256032" cy="25603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6016752" y="4297680"/>
            <a:ext cx="18288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2B2B"/>
                </a:solidFill>
                <a:latin typeface="Comic Sans MS"/>
              </a:rPr>
              <a:t>repair: up to 2 rounds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918704" y="3826764"/>
            <a:ext cx="164592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8101583" y="2889504"/>
            <a:ext cx="1773936" cy="1874519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8174736" y="2953512"/>
            <a:ext cx="420624" cy="420624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omic Sans MS"/>
              </a:rPr>
              <a:t>S3</a:t>
            </a:r>
          </a:p>
          <a:p>
            <a:pPr algn="ctr"/>
            <a:r>
              <a:rPr sz="600">
                <a:solidFill>
                  <a:srgbClr val="FFFFFF"/>
                </a:solidFill>
                <a:latin typeface="Comic Sans MS"/>
              </a:rPr>
              <a:t>function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68511" y="2926080"/>
            <a:ext cx="1152143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400" b="1" i="0">
                <a:solidFill>
                  <a:srgbClr val="A8812E"/>
                </a:solidFill>
                <a:latin typeface="Times New Roman"/>
              </a:rPr>
              <a:t>Test</a:t>
            </a:r>
          </a:p>
          <a:p>
            <a:pPr algn="l">
              <a:lnSpc>
                <a:spcPct val="90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deterministic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93023" y="3438144"/>
            <a:ext cx="1627632" cy="6035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" b="0" i="0">
                <a:solidFill>
                  <a:srgbClr val="2B2B2B"/>
                </a:solidFill>
                <a:latin typeface="Comic Sans MS"/>
              </a:rPr>
              <a:t>binomial, Fisher or modal vs runner-up; floor n ≥ 10</a:t>
            </a:r>
          </a:p>
        </p:txBody>
      </p:sp>
      <p:pic>
        <p:nvPicPr>
          <p:cNvPr id="96" name="Picture 95" descr="circle-check_4F6B7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11311" y="4096512"/>
            <a:ext cx="173736" cy="17373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430767" y="4059936"/>
            <a:ext cx="138988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2B2B"/>
                </a:solidFill>
                <a:latin typeface="Comic Sans MS"/>
              </a:rPr>
              <a:t>supported</a:t>
            </a:r>
          </a:p>
        </p:txBody>
      </p:sp>
      <p:pic>
        <p:nvPicPr>
          <p:cNvPr id="98" name="Picture 97" descr="circle-x_A0522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11311" y="4315968"/>
            <a:ext cx="173736" cy="173736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430767" y="4279392"/>
            <a:ext cx="138988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2B2B"/>
                </a:solidFill>
                <a:latin typeface="Comic Sans MS"/>
              </a:rPr>
              <a:t>refuted</a:t>
            </a:r>
          </a:p>
        </p:txBody>
      </p:sp>
      <p:pic>
        <p:nvPicPr>
          <p:cNvPr id="100" name="Picture 99" descr="circle-help_A8812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11311" y="4535424"/>
            <a:ext cx="173736" cy="173736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8430767" y="4498848"/>
            <a:ext cx="138988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2B2B"/>
                </a:solidFill>
                <a:latin typeface="Comic Sans MS"/>
              </a:rPr>
              <a:t>insufficient</a:t>
            </a:r>
          </a:p>
        </p:txBody>
      </p:sp>
      <p:sp>
        <p:nvSpPr>
          <p:cNvPr id="102" name="Oval 101"/>
          <p:cNvSpPr/>
          <p:nvPr/>
        </p:nvSpPr>
        <p:spPr>
          <a:xfrm>
            <a:off x="219456" y="4928616"/>
            <a:ext cx="384048" cy="384048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76656" y="4873752"/>
            <a:ext cx="109728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F6B75"/>
                </a:solidFill>
                <a:latin typeface="Times New Roman"/>
              </a:rPr>
              <a:t>Evaluation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6" y="5129784"/>
            <a:ext cx="1143000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0" i="0">
                <a:solidFill>
                  <a:srgbClr val="5F5F5F"/>
                </a:solidFill>
                <a:latin typeface="Comic Sans MS"/>
              </a:rPr>
              <a:t>any stage can be set to gold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755648" y="4837176"/>
            <a:ext cx="365760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6" name="Picture 105" descr="file-check_4F6B7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28800" y="5010912"/>
            <a:ext cx="292608" cy="292608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2176272" y="4855464"/>
            <a:ext cx="3200400" cy="60350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200" b="1" i="0">
                <a:solidFill>
                  <a:srgbClr val="4F6B75"/>
                </a:solidFill>
                <a:latin typeface="Times New Roman"/>
              </a:rPr>
              <a:t>Plan correctness</a:t>
            </a:r>
          </a:p>
          <a:p>
            <a:pPr algn="l">
              <a:lnSpc>
                <a:spcPct val="90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plan fields vs gold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14416" y="4837176"/>
            <a:ext cx="228600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9" name="Picture 108" descr="database_A0522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687568" y="5010912"/>
            <a:ext cx="292608" cy="292608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6035040" y="4855464"/>
            <a:ext cx="1828800" cy="60350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200" b="1" i="0">
                <a:solidFill>
                  <a:srgbClr val="A0522D"/>
                </a:solidFill>
                <a:latin typeface="Times New Roman"/>
              </a:rPr>
              <a:t>Evidence correctness</a:t>
            </a:r>
          </a:p>
          <a:p>
            <a:pPr algn="l">
              <a:lnSpc>
                <a:spcPct val="90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evidence F1, leaks, faithfulness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101583" y="4837176"/>
            <a:ext cx="1773936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2" name="Picture 111" descr="scale_A8812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74736" y="5010912"/>
            <a:ext cx="292608" cy="29260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8522208" y="4855464"/>
            <a:ext cx="1316736" cy="60350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200" b="1" i="0">
                <a:solidFill>
                  <a:srgbClr val="A8812E"/>
                </a:solidFill>
                <a:latin typeface="Times New Roman"/>
              </a:rPr>
              <a:t>Verdict</a:t>
            </a:r>
          </a:p>
          <a:p>
            <a:pPr algn="l">
              <a:lnSpc>
                <a:spcPct val="90000"/>
              </a:lnSpc>
            </a:pPr>
            <a:r>
              <a:rPr sz="1100" b="0" i="0">
                <a:solidFill>
                  <a:srgbClr val="5F5F5F"/>
                </a:solidFill>
                <a:latin typeface="Comic Sans MS"/>
              </a:rPr>
              <a:t>accuracy, P/R/F1, abstention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