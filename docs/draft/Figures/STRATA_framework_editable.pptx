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74523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" y="91440"/>
            <a:ext cx="12008815" cy="3017520"/>
          </a:xfrm>
          <a:prstGeom prst="roundRect">
            <a:avLst>
              <a:gd name="adj" fmla="val 3000"/>
            </a:avLst>
          </a:prstGeom>
          <a:solidFill>
            <a:srgbClr val="E7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237744" y="155448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Verdana"/>
              </a:rPr>
              <a:t>STRATA Benchmark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" y="676656"/>
            <a:ext cx="283464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92608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713232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Clinical timelines</a:t>
            </a:r>
            <a:r>
              <a:rPr sz="900" b="0" i="0">
                <a:solidFill>
                  <a:srgbClr val="5F5F5F"/>
                </a:solidFill>
                <a:latin typeface="Verdana"/>
              </a:rPr>
              <a:t> (MedTempo)</a:t>
            </a:r>
          </a:p>
        </p:txBody>
      </p:sp>
      <p:pic>
        <p:nvPicPr>
          <p:cNvPr id="8" name="Picture 7" descr="clipboard-plus_A05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115568"/>
            <a:ext cx="420624" cy="420624"/>
          </a:xfrm>
          <a:prstGeom prst="rect">
            <a:avLst/>
          </a:prstGeom>
        </p:spPr>
      </p:pic>
      <p:pic>
        <p:nvPicPr>
          <p:cNvPr id="9" name="Picture 8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115568"/>
            <a:ext cx="4206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1609344"/>
            <a:ext cx="1280160" cy="1371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3,166 VAERS reports, three vaccines, each a leveled order of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1078992"/>
            <a:ext cx="1408176" cy="1847088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09344" y="1106424"/>
            <a:ext cx="1353312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Example timeline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report MT-0482913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00784" y="1728216"/>
            <a:ext cx="1152144" cy="0"/>
          </a:xfrm>
          <a:prstGeom prst="line">
            <a:avLst/>
          </a:prstGeom>
          <a:ln w="22225">
            <a:solidFill>
              <a:srgbClr val="4F6B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709928" y="1664207"/>
            <a:ext cx="128016" cy="12801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1801368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4F6B75"/>
                </a:solidFill>
                <a:latin typeface="Verdana"/>
              </a:rPr>
              <a:t>Fever</a:t>
            </a:r>
          </a:p>
        </p:txBody>
      </p:sp>
      <p:sp>
        <p:nvSpPr>
          <p:cNvPr id="16" name="Oval 15"/>
          <p:cNvSpPr/>
          <p:nvPr/>
        </p:nvSpPr>
        <p:spPr>
          <a:xfrm>
            <a:off x="2212848" y="1664207"/>
            <a:ext cx="128016" cy="12801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1096" y="1801368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0522D"/>
                </a:solidFill>
                <a:latin typeface="Verdana"/>
              </a:rPr>
              <a:t>Headache</a:t>
            </a:r>
          </a:p>
        </p:txBody>
      </p:sp>
      <p:sp>
        <p:nvSpPr>
          <p:cNvPr id="18" name="Oval 17"/>
          <p:cNvSpPr/>
          <p:nvPr/>
        </p:nvSpPr>
        <p:spPr>
          <a:xfrm>
            <a:off x="2715768" y="1664207"/>
            <a:ext cx="128016" cy="12801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Verdana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1801368"/>
            <a:ext cx="7315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A8812E"/>
                </a:solidFill>
                <a:latin typeface="Verdana"/>
              </a:rPr>
              <a:t>Fatigue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9344" y="2048256"/>
            <a:ext cx="1353312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stage → events; the first mention fixes the stage; events at one stage co-exist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90672" y="17739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346704" y="676656"/>
            <a:ext cx="283464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419856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3632" y="713232"/>
            <a:ext cx="22128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Hypothesis templates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419856" y="1078992"/>
          <a:ext cx="2688336" cy="1828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112"/>
                <a:gridCol w="1792224"/>
              </a:tblGrid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Precedes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tends to precede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Co-occurs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and B tend to co-occur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Sequence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A, then B, then C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First / Last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is most often first (last)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Position</a:t>
                      </a:r>
                    </a:p>
                  </a:txBody>
                  <a:tcPr marL="36576" marR="36576" marT="0" marB="0" anchor="ctr">
                    <a:solidFill>
                      <a:srgbClr val="F3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falls in the earlier half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Proximity</a:t>
                      </a:r>
                    </a:p>
                  </a:txBody>
                  <a:tcPr marL="36576" marR="36576" marT="0" marB="0" anchor="ctr">
                    <a:solidFill>
                      <a:srgbClr val="F1E2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occurs right before B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B2B2B"/>
                          </a:solidFill>
                          <a:latin typeface="Verdana"/>
                        </a:rPr>
                        <a:t>Threshold</a:t>
                      </a:r>
                    </a:p>
                  </a:txBody>
                  <a:tcPr marL="36576" marR="36576" marT="0" marB="0" anchor="ctr">
                    <a:solidFill>
                      <a:srgbClr val="E3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2B2B"/>
                          </a:solidFill>
                          <a:latin typeface="Verdana"/>
                        </a:rPr>
                        <a:t>A precedes B in ≥ 2/3</a:t>
                      </a:r>
                    </a:p>
                  </a:txBody>
                  <a:tcPr marL="36576" marR="36576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6217920" y="17739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73952" y="676656"/>
            <a:ext cx="2743200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547104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713232"/>
            <a:ext cx="21214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Groups, families, levels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7104" y="1078992"/>
            <a:ext cx="2596896" cy="548640"/>
          </a:xfrm>
          <a:prstGeom prst="roundRect">
            <a:avLst>
              <a:gd name="adj" fmla="val 10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brain_4F6B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188719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67728" y="1097280"/>
            <a:ext cx="2157984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26 groups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9 report, 16 cohort, 1 two-cohort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7104" y="1682496"/>
            <a:ext cx="2596896" cy="621792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network_4F6B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1828800"/>
            <a:ext cx="329184" cy="3291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67728" y="1700784"/>
            <a:ext cx="2157984" cy="58521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7 claim families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precedes, co-occurs, sequence, first/last, position, proximity, threshold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47104" y="2359152"/>
            <a:ext cx="2596896" cy="566928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chart-no-axes-column_A052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2478024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7728" y="2377440"/>
            <a:ext cx="2157984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3 difficulty levels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Easy one report; Medium one cohort; Hard two cohorts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53728" y="17739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509760" y="676656"/>
            <a:ext cx="2459736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9582912" y="74980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Verdana"/>
              </a:rPr>
              <a:t>1.4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76688" y="713232"/>
            <a:ext cx="1837943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Gold at every stage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82912" y="1078992"/>
            <a:ext cx="2313432" cy="548640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ile-check_A881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76" y="1197863"/>
            <a:ext cx="310896" cy="3108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985248" y="1097280"/>
            <a:ext cx="1901952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Plan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events, quantity, denominator primitive, arms, null, p0, tail, test, floor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82912" y="1682496"/>
            <a:ext cx="2313432" cy="475488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database_A8812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7776" y="1764792"/>
            <a:ext cx="310896" cy="31089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85248" y="1700784"/>
            <a:ext cx="1901952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Evidence sets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denominator, numerator and excluded ids; n, k per arm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82912" y="2212848"/>
            <a:ext cx="2313432" cy="548640"/>
          </a:xfrm>
          <a:prstGeom prst="roundRect">
            <a:avLst>
              <a:gd name="adj" fmla="val 10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hart-bar_A881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7776" y="2331720"/>
            <a:ext cx="310896" cy="31089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985248" y="2231136"/>
            <a:ext cx="1901952" cy="512063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 i="0">
                <a:solidFill>
                  <a:srgbClr val="2B2B2B"/>
                </a:solidFill>
                <a:latin typeface="Verdana"/>
              </a:rPr>
              <a:t>Statistics, verdict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 on both tails, Wilson CI, Cohen's h; supported / refuted / insufficient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82912" y="2779776"/>
            <a:ext cx="2313432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1">
                <a:solidFill>
                  <a:srgbClr val="5F5F5F"/>
                </a:solidFill>
                <a:latin typeface="Verdana"/>
              </a:rPr>
              <a:t>validated by invariants and an oracle; permutation-screened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440" y="3200400"/>
            <a:ext cx="12008815" cy="3017520"/>
          </a:xfrm>
          <a:prstGeom prst="roundRect">
            <a:avLst>
              <a:gd name="adj" fmla="val 3000"/>
            </a:avLst>
          </a:prstGeom>
          <a:solidFill>
            <a:srgbClr val="F1E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237744" y="3264408"/>
            <a:ext cx="420624" cy="420624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236976"/>
            <a:ext cx="6400800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A0522D"/>
                </a:solidFill>
                <a:latin typeface="Verdana"/>
              </a:rPr>
              <a:t>ART Verification Pipeline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19456" y="3785615"/>
            <a:ext cx="2212848" cy="23408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274320" y="3831335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Inputs</a:t>
            </a:r>
          </a:p>
        </p:txBody>
      </p:sp>
      <p:pic>
        <p:nvPicPr>
          <p:cNvPr id="58" name="Picture 57" descr="file-text_4F6B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4169663"/>
            <a:ext cx="329184" cy="32918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76656" y="4133087"/>
            <a:ext cx="173736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a claim in natural language, with its cohort and level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4700016"/>
            <a:ext cx="21031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B2B2B"/>
                </a:solidFill>
                <a:latin typeface="Verdana"/>
              </a:rPr>
              <a:t>Resources (to S1)</a:t>
            </a:r>
          </a:p>
        </p:txBody>
      </p:sp>
      <p:pic>
        <p:nvPicPr>
          <p:cNvPr id="61" name="Picture 60" descr="list-checks_4F6B7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2608" y="5065775"/>
            <a:ext cx="329184" cy="32918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6656" y="5010912"/>
            <a:ext cx="1737360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codebook: the corpus stipulations as text; null sources; test definitions</a:t>
            </a:r>
          </a:p>
        </p:txBody>
      </p:sp>
      <p:pic>
        <p:nvPicPr>
          <p:cNvPr id="63" name="Picture 62" descr="database_4F6B7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608" y="5632704"/>
            <a:ext cx="329184" cy="3291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76656" y="5596127"/>
            <a:ext cx="1737360" cy="51206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 i="0">
                <a:solidFill>
                  <a:srgbClr val="2B2B2B"/>
                </a:solidFill>
                <a:latin typeface="Verdana"/>
              </a:rPr>
              <a:t>timeline DB: report, vaccine, term, first-mention stage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50592" y="4334255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450592" y="524865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2706624" y="3785615"/>
            <a:ext cx="4443984" cy="2340864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2779776" y="3849624"/>
            <a:ext cx="493776" cy="493776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S1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LLM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28416" y="3822191"/>
            <a:ext cx="3794760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4F6B75"/>
                </a:solidFill>
                <a:latin typeface="Verdana"/>
              </a:rPr>
              <a:t>Articulate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form a structured plan; the claim-type mapping is withheld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779776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2834640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90672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Parse the claim</a:t>
            </a:r>
          </a:p>
        </p:txBody>
      </p:sp>
      <p:pic>
        <p:nvPicPr>
          <p:cNvPr id="73" name="Picture 72" descr="file-search_4F6B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43784" y="4974336"/>
            <a:ext cx="274320" cy="27432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136392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events, cohort, quantity, direction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813048" y="5020056"/>
            <a:ext cx="50291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3863339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3918203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74235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Choose the primitive</a:t>
            </a:r>
          </a:p>
        </p:txBody>
      </p:sp>
      <p:pic>
        <p:nvPicPr>
          <p:cNvPr id="79" name="Picture 78" descr="git-branch_4F6B7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27348" y="4974336"/>
            <a:ext cx="274320" cy="27432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4219955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denominator rule; arms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896612" y="50200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4946904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5001768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57800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Compose the plan</a:t>
            </a:r>
          </a:p>
        </p:txBody>
      </p:sp>
      <p:pic>
        <p:nvPicPr>
          <p:cNvPr id="85" name="Picture 84" descr="sigma_4F6B7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10912" y="4974336"/>
            <a:ext cx="274320" cy="27432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03520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null, p0, tail, test family, floor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980176" y="5020056"/>
            <a:ext cx="50292" cy="0"/>
          </a:xfrm>
          <a:prstGeom prst="line">
            <a:avLst/>
          </a:prstGeom>
          <a:ln w="1587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030468" y="4425696"/>
            <a:ext cx="1033271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6085332" y="4480559"/>
            <a:ext cx="237744" cy="23774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Verdana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41364" y="4443983"/>
            <a:ext cx="713232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000" b="1" i="0">
                <a:solidFill>
                  <a:srgbClr val="2B2B2B"/>
                </a:solidFill>
                <a:latin typeface="Verdana"/>
              </a:rPr>
              <a:t>Verify, 1 round</a:t>
            </a:r>
          </a:p>
        </p:txBody>
      </p:sp>
      <p:pic>
        <p:nvPicPr>
          <p:cNvPr id="91" name="Picture 90" descr="timer-reset_4F6B7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4476" y="4974336"/>
            <a:ext cx="274320" cy="2743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387084" y="4919472"/>
            <a:ext cx="676656" cy="67665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2B2B2B"/>
                </a:solidFill>
                <a:latin typeface="Verdana"/>
              </a:rPr>
              <a:t>plan vs the codebook; re-ask once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779776" y="5669279"/>
            <a:ext cx="4297680" cy="384048"/>
          </a:xfrm>
          <a:prstGeom prst="roundRect">
            <a:avLst>
              <a:gd name="adj" fmla="val 10000"/>
            </a:avLst>
          </a:prstGeom>
          <a:solidFill>
            <a:srgbClr val="F1E2DA"/>
          </a:solidFill>
          <a:ln w="12700">
            <a:solidFill>
              <a:srgbClr val="A052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2834640" y="5678423"/>
            <a:ext cx="4206240" cy="3657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 i="0">
                <a:solidFill>
                  <a:srgbClr val="A0522D"/>
                </a:solidFill>
                <a:latin typeface="Verdana"/>
              </a:rPr>
              <a:t>Contract: </a:t>
            </a:r>
            <a:r>
              <a:rPr sz="900" b="0" i="0">
                <a:solidFill>
                  <a:srgbClr val="2B2B2B"/>
                </a:solidFill>
                <a:latin typeface="Verdana"/>
              </a:rPr>
              <a:t>the harness resolves the plan's primitive into its exact rule and states it to S2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168896" y="4974336"/>
            <a:ext cx="219456" cy="0"/>
          </a:xfrm>
          <a:prstGeom prst="line">
            <a:avLst/>
          </a:prstGeom>
          <a:ln w="28575">
            <a:solidFill>
              <a:srgbClr val="A0522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7424927" y="3785615"/>
            <a:ext cx="2523744" cy="2340864"/>
          </a:xfrm>
          <a:prstGeom prst="roundRect">
            <a:avLst>
              <a:gd name="adj" fmla="val 5000"/>
            </a:avLst>
          </a:prstGeom>
          <a:solidFill>
            <a:srgbClr val="F3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7498079" y="3849624"/>
            <a:ext cx="493776" cy="493776"/>
          </a:xfrm>
          <a:prstGeom prst="ellipse">
            <a:avLst/>
          </a:prstGeom>
          <a:solidFill>
            <a:srgbClr val="A05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S2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LLM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46720" y="3822191"/>
            <a:ext cx="1874519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0522D"/>
                </a:solidFill>
                <a:latin typeface="Verdana"/>
              </a:rPr>
              <a:t>Retrieve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plan to evidence sets</a:t>
            </a:r>
          </a:p>
        </p:txBody>
      </p:sp>
      <p:pic>
        <p:nvPicPr>
          <p:cNvPr id="99" name="Picture 98" descr="code_A0522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8079" y="4480559"/>
            <a:ext cx="292608" cy="29260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845552" y="4443983"/>
            <a:ext cx="2084831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told the schema and the contract; one SQL per arm, one row per report</a:t>
            </a:r>
          </a:p>
        </p:txBody>
      </p:sp>
      <p:pic>
        <p:nvPicPr>
          <p:cNvPr id="101" name="Picture 100" descr="table-2_A0522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98079" y="5047488"/>
            <a:ext cx="292608" cy="29260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845552" y="5010912"/>
            <a:ext cx="2084831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sandbox: read-only execution → n, k and report ids per arm</a:t>
            </a:r>
          </a:p>
        </p:txBody>
      </p:sp>
      <p:pic>
        <p:nvPicPr>
          <p:cNvPr id="103" name="Picture 102" descr="timer-reset_A0522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98079" y="5596128"/>
            <a:ext cx="292608" cy="29260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7845552" y="5559552"/>
            <a:ext cx="2084831" cy="5486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verify, up to 2 rounds: rejected SQL, n = k, empty arm, rule leaks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9966960" y="4974336"/>
            <a:ext cx="219456" cy="0"/>
          </a:xfrm>
          <a:prstGeom prst="line">
            <a:avLst/>
          </a:prstGeom>
          <a:ln w="22225">
            <a:solidFill>
              <a:srgbClr val="5F5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10222992" y="3785615"/>
            <a:ext cx="1746504" cy="2340864"/>
          </a:xfrm>
          <a:prstGeom prst="roundRect">
            <a:avLst>
              <a:gd name="adj" fmla="val 5000"/>
            </a:avLst>
          </a:prstGeom>
          <a:solidFill>
            <a:srgbClr val="E3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10296144" y="3849624"/>
            <a:ext cx="493776" cy="493776"/>
          </a:xfrm>
          <a:prstGeom prst="ellipse">
            <a:avLst/>
          </a:prstGeom>
          <a:solidFill>
            <a:srgbClr val="A88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Verdana"/>
              </a:rPr>
              <a:t>S3</a:t>
            </a:r>
          </a:p>
          <a:p>
            <a:pPr algn="ctr"/>
            <a:r>
              <a:rPr sz="650">
                <a:solidFill>
                  <a:srgbClr val="FFFFFF"/>
                </a:solidFill>
                <a:latin typeface="Verdana"/>
              </a:rPr>
              <a:t>function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44784" y="3822191"/>
            <a:ext cx="1106424" cy="5486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 i="0">
                <a:solidFill>
                  <a:srgbClr val="A8812E"/>
                </a:solidFill>
                <a:latin typeface="Verdana"/>
              </a:rPr>
              <a:t>Test</a:t>
            </a:r>
          </a:p>
          <a:p>
            <a:pPr algn="l">
              <a:lnSpc>
                <a:spcPct val="95000"/>
              </a:lnSpc>
            </a:pPr>
            <a:r>
              <a:rPr sz="1050" b="0" i="0">
                <a:solidFill>
                  <a:srgbClr val="5F5F5F"/>
                </a:solidFill>
                <a:latin typeface="Verdana"/>
              </a:rPr>
              <a:t>exact, deterministic</a:t>
            </a:r>
          </a:p>
        </p:txBody>
      </p:sp>
      <p:pic>
        <p:nvPicPr>
          <p:cNvPr id="109" name="Picture 108" descr="settings_A8812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96144" y="4480559"/>
            <a:ext cx="292608" cy="292608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10625328" y="4425696"/>
            <a:ext cx="1325880" cy="10058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2B2B2B"/>
                </a:solidFill>
                <a:latin typeface="Verdana"/>
              </a:rPr>
              <a:t>exact binomial vs p0; Fisher's test, two arms; modal-vs-runner-up, argmax; floor n ≥ 10</a:t>
            </a:r>
          </a:p>
        </p:txBody>
      </p:sp>
      <p:pic>
        <p:nvPicPr>
          <p:cNvPr id="111" name="Picture 110" descr="circle-check_4F6B7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6144" y="5413248"/>
            <a:ext cx="201168" cy="201168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533888" y="5385816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Supported</a:t>
            </a:r>
          </a:p>
        </p:txBody>
      </p:sp>
      <p:pic>
        <p:nvPicPr>
          <p:cNvPr id="113" name="Picture 112" descr="circle-x_A0522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96144" y="5650992"/>
            <a:ext cx="201168" cy="20116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10533888" y="5623559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Refuted</a:t>
            </a:r>
          </a:p>
        </p:txBody>
      </p:sp>
      <p:pic>
        <p:nvPicPr>
          <p:cNvPr id="115" name="Picture 114" descr="circle-help_A8812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96144" y="5888736"/>
            <a:ext cx="201168" cy="201168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533888" y="5861303"/>
            <a:ext cx="1371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2B2B2B"/>
                </a:solidFill>
                <a:latin typeface="Verdana"/>
              </a:rPr>
              <a:t>Insufficient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1440" y="6309360"/>
            <a:ext cx="12008815" cy="1051560"/>
          </a:xfrm>
          <a:prstGeom prst="roundRect">
            <a:avLst>
              <a:gd name="adj" fmla="val 3000"/>
            </a:avLst>
          </a:prstGeom>
          <a:solidFill>
            <a:srgbClr val="EC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237744" y="6601968"/>
            <a:ext cx="420624" cy="420624"/>
          </a:xfrm>
          <a:prstGeom prst="ellipse">
            <a:avLst/>
          </a:prstGeom>
          <a:solidFill>
            <a:srgbClr val="4F6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Verdana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31520" y="6473952"/>
            <a:ext cx="3108960" cy="4572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4F6B75"/>
                </a:solidFill>
                <a:latin typeface="Verdana"/>
              </a:rPr>
              <a:t>Stage-level Evaluation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808" y="6912864"/>
            <a:ext cx="3108960" cy="32004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any stage can be set to gold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657600" y="6400800"/>
            <a:ext cx="2706624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2" name="Picture 121" descr="file-check_4F6B75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749039" y="6620256"/>
            <a:ext cx="420624" cy="420624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4261104" y="6437376"/>
            <a:ext cx="2103120" cy="8046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4F6B75"/>
                </a:solidFill>
                <a:latin typeface="Verdana"/>
              </a:rPr>
              <a:t>Plan correctness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plan EM, claim-type EM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460236" y="6400800"/>
            <a:ext cx="2706624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5" name="Picture 124" descr="database_A0522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51675" y="6620256"/>
            <a:ext cx="420624" cy="420624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7063740" y="6437376"/>
            <a:ext cx="2103120" cy="8046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A0522D"/>
                </a:solidFill>
                <a:latin typeface="Verdana"/>
              </a:rPr>
              <a:t>Evidence correctness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evidence F1, co-exist / tie leak, faithfulness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262872" y="6400800"/>
            <a:ext cx="2706624" cy="868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8B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8" name="Picture 127" descr="scale_A8812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54311" y="6620256"/>
            <a:ext cx="420624" cy="420624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9866376" y="6437376"/>
            <a:ext cx="2103120" cy="8046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A8812E"/>
                </a:solidFill>
                <a:latin typeface="Verdana"/>
              </a:rPr>
              <a:t>Verdict and abstention</a:t>
            </a:r>
          </a:p>
          <a:p>
            <a:pPr algn="l">
              <a:lnSpc>
                <a:spcPct val="95000"/>
              </a:lnSpc>
            </a:pPr>
            <a:r>
              <a:rPr sz="900" b="0" i="0">
                <a:solidFill>
                  <a:srgbClr val="5F5F5F"/>
                </a:solidFill>
                <a:latin typeface="Verdana"/>
              </a:rPr>
              <a:t>accuracy, macro P/R/F1, overclaim, underclaim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