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11914632" cy="25146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274320" y="228600"/>
            <a:ext cx="384048" cy="384048"/>
          </a:xfrm>
          <a:prstGeom prst="ellipse">
            <a:avLst/>
          </a:prstGeom>
          <a:solidFill>
            <a:srgbClr val="8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"/>
            <a:ext cx="44805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8B3A2F"/>
                </a:solidFill>
                <a:latin typeface="Arial"/>
              </a:rPr>
              <a:t>STRATA Benchmark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10312"/>
            <a:ext cx="74066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From annotated clinical timelines to temporal–statistical claims with gold at every 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28803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47472" y="804672"/>
            <a:ext cx="384048" cy="201168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68096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F2933"/>
                </a:solidFill>
                <a:latin typeface="Arial"/>
              </a:rPr>
              <a:t>Annotated clinical timelines</a:t>
            </a:r>
            <a:r>
              <a:rPr sz="800" b="0" i="0">
                <a:solidFill>
                  <a:srgbClr val="6B7280"/>
                </a:solidFill>
                <a:latin typeface="Arial"/>
              </a:rPr>
              <a:t> (MedTempo)</a:t>
            </a:r>
          </a:p>
        </p:txBody>
      </p:sp>
      <p:sp>
        <p:nvSpPr>
          <p:cNvPr id="9" name="Document 8"/>
          <p:cNvSpPr/>
          <p:nvPr/>
        </p:nvSpPr>
        <p:spPr>
          <a:xfrm>
            <a:off x="384048" y="1188720"/>
            <a:ext cx="384048" cy="457200"/>
          </a:xfrm>
          <a:prstGeom prst="flowChartDocument">
            <a:avLst/>
          </a:prstGeom>
          <a:solidFill>
            <a:srgbClr val="FFFFFF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cument 9"/>
          <p:cNvSpPr/>
          <p:nvPr/>
        </p:nvSpPr>
        <p:spPr>
          <a:xfrm>
            <a:off x="841248" y="1188720"/>
            <a:ext cx="384048" cy="457200"/>
          </a:xfrm>
          <a:prstGeom prst="flowChartDocument">
            <a:avLst/>
          </a:prstGeom>
          <a:solidFill>
            <a:srgbClr val="FFFFFF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691640"/>
            <a:ext cx="11430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 i="0">
                <a:solidFill>
                  <a:srgbClr val="1F2933"/>
                </a:solidFill>
                <a:latin typeface="Arial"/>
              </a:rPr>
              <a:t>3,166 VAERS adverse-event reports (Janssen, Pfizer, Moderna), expert-annotated as a leveled order of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1115568"/>
            <a:ext cx="1508760" cy="13258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09344" y="1152144"/>
            <a:ext cx="14630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1F2933"/>
                </a:solidFill>
                <a:latin typeface="Arial"/>
              </a:rPr>
              <a:t>Example timeline</a:t>
            </a:r>
            <a:r>
              <a:rPr sz="650" b="0" i="0">
                <a:solidFill>
                  <a:srgbClr val="6B7280"/>
                </a:solidFill>
                <a:latin typeface="Arial"/>
              </a:rPr>
              <a:t> (report MT-0482913)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91640" y="1600200"/>
            <a:ext cx="1280160" cy="0"/>
          </a:xfrm>
          <a:prstGeom prst="line">
            <a:avLst/>
          </a:prstGeom>
          <a:ln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19072" y="1536192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673352"/>
            <a:ext cx="6400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650" b="1" i="0">
                <a:solidFill>
                  <a:srgbClr val="2B6CB0"/>
                </a:solidFill>
                <a:latin typeface="Arial"/>
              </a:rPr>
              <a:t>Fever</a:t>
            </a:r>
          </a:p>
        </p:txBody>
      </p:sp>
      <p:sp>
        <p:nvSpPr>
          <p:cNvPr id="17" name="Oval 16"/>
          <p:cNvSpPr/>
          <p:nvPr/>
        </p:nvSpPr>
        <p:spPr>
          <a:xfrm>
            <a:off x="2194560" y="1536192"/>
            <a:ext cx="128016" cy="128016"/>
          </a:xfrm>
          <a:prstGeom prst="ellipse">
            <a:avLst/>
          </a:prstGeom>
          <a:solidFill>
            <a:srgbClr val="B54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1673352"/>
            <a:ext cx="6400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650" b="1" i="0">
                <a:solidFill>
                  <a:srgbClr val="B5462F"/>
                </a:solidFill>
                <a:latin typeface="Arial"/>
              </a:rPr>
              <a:t>Headache</a:t>
            </a:r>
          </a:p>
        </p:txBody>
      </p:sp>
      <p:sp>
        <p:nvSpPr>
          <p:cNvPr id="19" name="Oval 18"/>
          <p:cNvSpPr/>
          <p:nvPr/>
        </p:nvSpPr>
        <p:spPr>
          <a:xfrm>
            <a:off x="2670048" y="1536192"/>
            <a:ext cx="128016" cy="128016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4016" y="1673352"/>
            <a:ext cx="6400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650" b="1" i="0">
                <a:solidFill>
                  <a:srgbClr val="2E7D4F"/>
                </a:solidFill>
                <a:latin typeface="Arial"/>
              </a:rPr>
              <a:t>Fatigue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9344" y="1920240"/>
            <a:ext cx="14630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Arial"/>
              </a:rPr>
              <a:t>stage → events; the first mention fixes the stage; events at one stage co-exist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00400" y="160020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74720" y="73152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3547872" y="804672"/>
            <a:ext cx="384048" cy="201168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768096"/>
            <a:ext cx="2148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F2933"/>
                </a:solidFill>
                <a:latin typeface="Arial"/>
              </a:rPr>
              <a:t>Hypothesis templates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566160" y="1097280"/>
          <a:ext cx="2514600" cy="1325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737360"/>
              </a:tblGrid>
              <a:tr h="189411"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1F2933"/>
                          </a:solidFill>
                          <a:latin typeface="Arial"/>
                        </a:rPr>
                        <a:t>Precedes</a:t>
                      </a:r>
                    </a:p>
                  </a:txBody>
                  <a:tcPr marL="36576" marR="36576" marT="0" marB="0" anchor="ctr">
                    <a:solidFill>
                      <a:srgbClr val="E3E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F2933"/>
                          </a:solidFill>
                          <a:latin typeface="Arial"/>
                        </a:rPr>
                        <a:t>A tends to precede B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1F2933"/>
                          </a:solidFill>
                          <a:latin typeface="Arial"/>
                        </a:rPr>
                        <a:t>Co-occurs</a:t>
                      </a:r>
                    </a:p>
                  </a:txBody>
                  <a:tcPr marL="36576" marR="36576" marT="0" marB="0" anchor="ctr"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F2933"/>
                          </a:solidFill>
                          <a:latin typeface="Arial"/>
                        </a:rPr>
                        <a:t>A and B tend to co-occur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1F2933"/>
                          </a:solidFill>
                          <a:latin typeface="Arial"/>
                        </a:rPr>
                        <a:t>Sequence</a:t>
                      </a:r>
                    </a:p>
                  </a:txBody>
                  <a:tcPr marL="36576" marR="36576" marT="0" marB="0" anchor="ctr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F2933"/>
                          </a:solidFill>
                          <a:latin typeface="Arial"/>
                        </a:rPr>
                        <a:t>A, then B, then C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1F2933"/>
                          </a:solidFill>
                          <a:latin typeface="Arial"/>
                        </a:rPr>
                        <a:t>First / Last</a:t>
                      </a:r>
                    </a:p>
                  </a:txBody>
                  <a:tcPr marL="36576" marR="36576" marT="0" marB="0" anchor="ctr">
                    <a:solidFill>
                      <a:srgbClr val="FBE9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F2933"/>
                          </a:solidFill>
                          <a:latin typeface="Arial"/>
                        </a:rPr>
                        <a:t>A is most often the first (last)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1F2933"/>
                          </a:solidFill>
                          <a:latin typeface="Arial"/>
                        </a:rPr>
                        <a:t>Position</a:t>
                      </a:r>
                    </a:p>
                  </a:txBody>
                  <a:tcPr marL="36576" marR="36576" marT="0" marB="0"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F2933"/>
                          </a:solidFill>
                          <a:latin typeface="Arial"/>
                        </a:rPr>
                        <a:t>A falls in the earlier half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1F2933"/>
                          </a:solidFill>
                          <a:latin typeface="Arial"/>
                        </a:rPr>
                        <a:t>Proximity</a:t>
                      </a:r>
                    </a:p>
                  </a:txBody>
                  <a:tcPr marL="36576" marR="36576" marT="0" marB="0" anchor="ctr"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F2933"/>
                          </a:solidFill>
                          <a:latin typeface="Arial"/>
                        </a:rPr>
                        <a:t>A occurs right before B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1F2933"/>
                          </a:solidFill>
                          <a:latin typeface="Arial"/>
                        </a:rPr>
                        <a:t>Threshold</a:t>
                      </a:r>
                    </a:p>
                  </a:txBody>
                  <a:tcPr marL="36576" marR="36576" marT="0" marB="0" anchor="ctr">
                    <a:solidFill>
                      <a:srgbClr val="F1E7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F2933"/>
                          </a:solidFill>
                          <a:latin typeface="Arial"/>
                        </a:rPr>
                        <a:t>A precedes B in ≥ 2/3 of reports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6217920" y="160020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92240" y="731520"/>
            <a:ext cx="25146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565392" y="804672"/>
            <a:ext cx="384048" cy="201168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768096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F2933"/>
                </a:solidFill>
                <a:latin typeface="Arial"/>
              </a:rPr>
              <a:t>Groups, families, levels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1097280"/>
            <a:ext cx="2331720" cy="420624"/>
          </a:xfrm>
          <a:prstGeom prst="roundRect">
            <a:avLst>
              <a:gd name="adj" fmla="val 6000"/>
            </a:avLst>
          </a:prstGeom>
          <a:solidFill>
            <a:srgbClr val="E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638544" y="1106424"/>
            <a:ext cx="224028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1F2933"/>
                </a:solidFill>
                <a:latin typeface="Arial"/>
              </a:rPr>
              <a:t>26 groups</a:t>
            </a:r>
          </a:p>
          <a:p>
            <a:pPr algn="l"/>
            <a:r>
              <a:rPr sz="660" b="0" i="0">
                <a:solidFill>
                  <a:srgbClr val="6B7280"/>
                </a:solidFill>
                <a:latin typeface="Arial"/>
              </a:rPr>
              <a:t>template × scope: 9 report, 16 cohort, 1 two-cohort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1554480"/>
            <a:ext cx="2331720" cy="420624"/>
          </a:xfrm>
          <a:prstGeom prst="roundRect">
            <a:avLst>
              <a:gd name="adj" fmla="val 6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38544" y="1563624"/>
            <a:ext cx="224028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1F2933"/>
                </a:solidFill>
                <a:latin typeface="Arial"/>
              </a:rPr>
              <a:t>7 claim families</a:t>
            </a:r>
          </a:p>
          <a:p>
            <a:pPr algn="l"/>
            <a:r>
              <a:rPr sz="660" b="0" i="0">
                <a:solidFill>
                  <a:srgbClr val="6B7280"/>
                </a:solidFill>
                <a:latin typeface="Arial"/>
              </a:rPr>
              <a:t>precedes, co-occurs, sequence, first/last, position, proximity, threshold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2011680"/>
            <a:ext cx="2331720" cy="420624"/>
          </a:xfrm>
          <a:prstGeom prst="roundRect">
            <a:avLst>
              <a:gd name="adj" fmla="val 6000"/>
            </a:avLst>
          </a:prstGeom>
          <a:solidFill>
            <a:srgbClr val="F1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638544" y="2020824"/>
            <a:ext cx="224028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1F2933"/>
                </a:solidFill>
                <a:latin typeface="Arial"/>
              </a:rPr>
              <a:t>3 difficulty levels</a:t>
            </a:r>
          </a:p>
          <a:p>
            <a:pPr algn="l"/>
            <a:r>
              <a:rPr sz="660" b="0" i="0">
                <a:solidFill>
                  <a:srgbClr val="6B7280"/>
                </a:solidFill>
                <a:latin typeface="Arial"/>
              </a:rPr>
              <a:t>Easy: one report · Medium: one cohort · Hard: two cohorts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52560" y="160020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326880" y="731520"/>
            <a:ext cx="267919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9400032" y="804672"/>
            <a:ext cx="384048" cy="201168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768096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F2933"/>
                </a:solidFill>
                <a:latin typeface="Arial"/>
              </a:rPr>
              <a:t>Gold annotations</a:t>
            </a:r>
            <a:r>
              <a:rPr sz="800" b="0" i="0">
                <a:solidFill>
                  <a:srgbClr val="6B7280"/>
                </a:solidFill>
                <a:latin typeface="Arial"/>
              </a:rPr>
              <a:t> (computed mechanically)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00032" y="1097280"/>
            <a:ext cx="822960" cy="1097280"/>
          </a:xfrm>
          <a:prstGeom prst="roundRect">
            <a:avLst>
              <a:gd name="adj" fmla="val 6000"/>
            </a:avLst>
          </a:prstGeom>
          <a:solidFill>
            <a:srgbClr val="FFF6D9"/>
          </a:solidFill>
          <a:ln w="9525">
            <a:solidFill>
              <a:srgbClr val="E7D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418319" y="1115568"/>
            <a:ext cx="78638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80" b="1" i="0">
                <a:solidFill>
                  <a:srgbClr val="1F2933"/>
                </a:solidFill>
                <a:latin typeface="Arial"/>
              </a:rPr>
              <a:t>Gold 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19" y="1353312"/>
            <a:ext cx="786384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20" b="0" i="0">
                <a:solidFill>
                  <a:srgbClr val="1F2933"/>
                </a:solidFill>
                <a:latin typeface="Arial"/>
              </a:rPr>
              <a:t>• events, quantity</a:t>
            </a:r>
          </a:p>
          <a:p>
            <a:pPr algn="l"/>
            <a:r>
              <a:rPr sz="620" b="0" i="0">
                <a:solidFill>
                  <a:srgbClr val="1F2933"/>
                </a:solidFill>
                <a:latin typeface="Arial"/>
              </a:rPr>
              <a:t>• denominator primitive, arms</a:t>
            </a:r>
          </a:p>
          <a:p>
            <a:pPr algn="l"/>
            <a:r>
              <a:rPr sz="620" b="0" i="0">
                <a:solidFill>
                  <a:srgbClr val="1F2933"/>
                </a:solidFill>
                <a:latin typeface="Arial"/>
              </a:rPr>
              <a:t>• null kind, p0, tail</a:t>
            </a:r>
          </a:p>
          <a:p>
            <a:pPr algn="l"/>
            <a:r>
              <a:rPr sz="620" b="0" i="0">
                <a:solidFill>
                  <a:srgbClr val="1F2933"/>
                </a:solidFill>
                <a:latin typeface="Arial"/>
              </a:rPr>
              <a:t>• test family, floor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77855" y="1097280"/>
            <a:ext cx="822960" cy="1097280"/>
          </a:xfrm>
          <a:prstGeom prst="roundRect">
            <a:avLst>
              <a:gd name="adj" fmla="val 6000"/>
            </a:avLst>
          </a:prstGeom>
          <a:solidFill>
            <a:srgbClr val="FFF6D9"/>
          </a:solidFill>
          <a:ln w="9525">
            <a:solidFill>
              <a:srgbClr val="E7D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296143" y="1115568"/>
            <a:ext cx="78638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80" b="1" i="0">
                <a:solidFill>
                  <a:srgbClr val="1F2933"/>
                </a:solidFill>
                <a:latin typeface="Arial"/>
              </a:rPr>
              <a:t>Gold evidence sets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96143" y="1353312"/>
            <a:ext cx="786384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20" b="0" i="0">
                <a:solidFill>
                  <a:srgbClr val="1F2933"/>
                </a:solidFill>
                <a:latin typeface="Arial"/>
              </a:rPr>
              <a:t>• denominator ids</a:t>
            </a:r>
          </a:p>
          <a:p>
            <a:pPr algn="l"/>
            <a:r>
              <a:rPr sz="620" b="0" i="0">
                <a:solidFill>
                  <a:srgbClr val="1F2933"/>
                </a:solidFill>
                <a:latin typeface="Arial"/>
              </a:rPr>
              <a:t>• numerator ids</a:t>
            </a:r>
          </a:p>
          <a:p>
            <a:pPr algn="l"/>
            <a:r>
              <a:rPr sz="620" b="0" i="0">
                <a:solidFill>
                  <a:srgbClr val="1F2933"/>
                </a:solidFill>
                <a:latin typeface="Arial"/>
              </a:rPr>
              <a:t>• excluded ids</a:t>
            </a:r>
          </a:p>
          <a:p>
            <a:pPr algn="l"/>
            <a:r>
              <a:rPr sz="620" b="0" i="0">
                <a:solidFill>
                  <a:srgbClr val="1F2933"/>
                </a:solidFill>
                <a:latin typeface="Arial"/>
              </a:rPr>
              <a:t>• n, k per arm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155680" y="1097280"/>
            <a:ext cx="822960" cy="1097280"/>
          </a:xfrm>
          <a:prstGeom prst="roundRect">
            <a:avLst>
              <a:gd name="adj" fmla="val 6000"/>
            </a:avLst>
          </a:prstGeom>
          <a:solidFill>
            <a:srgbClr val="FFF6D9"/>
          </a:solidFill>
          <a:ln w="9525">
            <a:solidFill>
              <a:srgbClr val="E7D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1173967" y="1115568"/>
            <a:ext cx="78638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80" b="1" i="0">
                <a:solidFill>
                  <a:srgbClr val="1F2933"/>
                </a:solidFill>
                <a:latin typeface="Arial"/>
              </a:rPr>
              <a:t>Gold statistics &amp; verdict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73967" y="1353312"/>
            <a:ext cx="786384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20" b="0" i="0">
                <a:solidFill>
                  <a:srgbClr val="1F2933"/>
                </a:solidFill>
                <a:latin typeface="Arial"/>
              </a:rPr>
              <a:t>• p, both tails</a:t>
            </a:r>
          </a:p>
          <a:p>
            <a:pPr algn="l"/>
            <a:r>
              <a:rPr sz="620" b="0" i="0">
                <a:solidFill>
                  <a:srgbClr val="1F2933"/>
                </a:solidFill>
                <a:latin typeface="Arial"/>
              </a:rPr>
              <a:t>• Wilson CI, Cohen's h</a:t>
            </a:r>
          </a:p>
          <a:p>
            <a:pPr algn="l"/>
            <a:r>
              <a:rPr sz="620" b="0" i="0">
                <a:solidFill>
                  <a:srgbClr val="1F2933"/>
                </a:solidFill>
                <a:latin typeface="Arial"/>
              </a:rPr>
              <a:t>• verdict: supported,</a:t>
            </a:r>
          </a:p>
          <a:p>
            <a:pPr algn="l"/>
            <a:r>
              <a:rPr sz="620" b="0" i="0">
                <a:solidFill>
                  <a:srgbClr val="1F2933"/>
                </a:solidFill>
                <a:latin typeface="Arial"/>
              </a:rPr>
              <a:t>• refuted, insufficient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00032" y="2221991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30" b="0" i="1">
                <a:solidFill>
                  <a:srgbClr val="6B7280"/>
                </a:solidFill>
                <a:latin typeface="Arial"/>
              </a:rPr>
              <a:t>validated by six invariant families and a deterministic oracle; screened against permutation nulls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7160" y="2743200"/>
            <a:ext cx="11914632" cy="2697480"/>
          </a:xfrm>
          <a:prstGeom prst="roundRect">
            <a:avLst>
              <a:gd name="adj" fmla="val 4000"/>
            </a:avLst>
          </a:prstGeom>
          <a:solidFill>
            <a:srgbClr val="F8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274320" y="2834640"/>
            <a:ext cx="384048" cy="384048"/>
          </a:xfrm>
          <a:prstGeom prst="ellipse">
            <a:avLst/>
          </a:prstGeom>
          <a:solidFill>
            <a:srgbClr val="8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2816352"/>
            <a:ext cx="44805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8B3A2F"/>
                </a:solidFill>
                <a:latin typeface="Arial"/>
              </a:rPr>
              <a:t>ART Verification Pipeline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2816352"/>
            <a:ext cx="74066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From a natural-language claim to a verified verdict with auditable evidence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4320" y="3337560"/>
            <a:ext cx="2103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47472" y="3383279"/>
            <a:ext cx="1965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F2933"/>
                </a:solidFill>
                <a:latin typeface="Arial"/>
              </a:rPr>
              <a:t>Inputs to the system</a:t>
            </a:r>
          </a:p>
        </p:txBody>
      </p:sp>
      <p:sp>
        <p:nvSpPr>
          <p:cNvPr id="57" name="Document 56"/>
          <p:cNvSpPr/>
          <p:nvPr/>
        </p:nvSpPr>
        <p:spPr>
          <a:xfrm>
            <a:off x="365760" y="3657600"/>
            <a:ext cx="274320" cy="329184"/>
          </a:xfrm>
          <a:prstGeom prst="flowChartDocument">
            <a:avLst/>
          </a:prstGeom>
          <a:solidFill>
            <a:srgbClr val="FFFFFF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" y="3630168"/>
            <a:ext cx="1645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 i="0">
                <a:solidFill>
                  <a:srgbClr val="1F2933"/>
                </a:solidFill>
                <a:latin typeface="Arial"/>
              </a:rPr>
              <a:t>A claim in natural language, with its cohort and level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7472" y="4114800"/>
            <a:ext cx="1965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F2933"/>
                </a:solidFill>
                <a:latin typeface="Arial"/>
              </a:rPr>
              <a:t>Auxiliary resources (to S1)</a:t>
            </a:r>
          </a:p>
        </p:txBody>
      </p:sp>
      <p:sp>
        <p:nvSpPr>
          <p:cNvPr id="60" name="Can 59"/>
          <p:cNvSpPr/>
          <p:nvPr/>
        </p:nvSpPr>
        <p:spPr>
          <a:xfrm>
            <a:off x="365760" y="4389120"/>
            <a:ext cx="256032" cy="310896"/>
          </a:xfrm>
          <a:prstGeom prst="can">
            <a:avLst/>
          </a:prstGeom>
          <a:solidFill>
            <a:srgbClr val="FFFFFF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944" y="4343400"/>
            <a:ext cx="1645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80" b="0" i="0">
                <a:solidFill>
                  <a:srgbClr val="1F2933"/>
                </a:solidFill>
                <a:latin typeface="Arial"/>
              </a:rPr>
              <a:t>Codebook: the corpus stipulations as text; null sources; test definitions; dataset card</a:t>
            </a:r>
          </a:p>
        </p:txBody>
      </p:sp>
      <p:sp>
        <p:nvSpPr>
          <p:cNvPr id="62" name="Can 61"/>
          <p:cNvSpPr/>
          <p:nvPr/>
        </p:nvSpPr>
        <p:spPr>
          <a:xfrm>
            <a:off x="365760" y="4873752"/>
            <a:ext cx="256032" cy="310896"/>
          </a:xfrm>
          <a:prstGeom prst="can">
            <a:avLst/>
          </a:prstGeom>
          <a:solidFill>
            <a:srgbClr val="FFFFFF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" y="4828031"/>
            <a:ext cx="1645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80" b="0" i="0">
                <a:solidFill>
                  <a:srgbClr val="1F2933"/>
                </a:solidFill>
                <a:latin typeface="Arial"/>
              </a:rPr>
              <a:t>Annotation DB: report, vaccine, term, first-mention stage (ids pseudonymised)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395728" y="3794760"/>
            <a:ext cx="210312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395728" y="4617720"/>
            <a:ext cx="210312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2651760" y="3337560"/>
            <a:ext cx="4343400" cy="2011680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9525">
            <a:solidFill>
              <a:srgbClr val="BF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2724912" y="3392424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S1</a:t>
            </a:r>
          </a:p>
          <a:p>
            <a:pPr algn="ctr"/>
            <a:r>
              <a:rPr sz="605">
                <a:solidFill>
                  <a:srgbClr val="FFFFFF"/>
                </a:solidFill>
                <a:latin typeface="Arial"/>
              </a:rPr>
              <a:t>LLM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18688" y="3364991"/>
            <a:ext cx="374903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7D4F"/>
                </a:solidFill>
                <a:latin typeface="Arial"/>
              </a:rPr>
              <a:t>Articulate</a:t>
            </a:r>
          </a:p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form a structured plan; the claim-type mapping is withheld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743200" y="3904487"/>
            <a:ext cx="98755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2798064" y="3950208"/>
            <a:ext cx="219456" cy="219456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35808" y="3922776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1" i="0">
                <a:solidFill>
                  <a:srgbClr val="1F2933"/>
                </a:solidFill>
                <a:latin typeface="Arial"/>
              </a:rPr>
              <a:t>Parse the claim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79776" y="4206240"/>
            <a:ext cx="914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50" b="0" i="0">
                <a:solidFill>
                  <a:srgbClr val="1F2933"/>
                </a:solidFill>
                <a:latin typeface="Arial"/>
              </a:rPr>
              <a:t>• events, cohort</a:t>
            </a:r>
          </a:p>
          <a:p>
            <a:pPr algn="l"/>
            <a:r>
              <a:rPr sz="650" b="0" i="0">
                <a:solidFill>
                  <a:srgbClr val="1F2933"/>
                </a:solidFill>
                <a:latin typeface="Arial"/>
              </a:rPr>
              <a:t>• quantity, direction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730752" y="4389120"/>
            <a:ext cx="54863" cy="0"/>
          </a:xfrm>
          <a:prstGeom prst="line">
            <a:avLst/>
          </a:prstGeom>
          <a:ln w="1270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3785615" y="3904487"/>
            <a:ext cx="98755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3840479" y="3950208"/>
            <a:ext cx="219456" cy="219456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78224" y="3922776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1" i="0">
                <a:solidFill>
                  <a:srgbClr val="1F2933"/>
                </a:solidFill>
                <a:latin typeface="Arial"/>
              </a:rPr>
              <a:t>Choose the primitive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22191" y="4206240"/>
            <a:ext cx="914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50" b="0" i="0">
                <a:solidFill>
                  <a:srgbClr val="1F2933"/>
                </a:solidFill>
                <a:latin typeface="Arial"/>
              </a:rPr>
              <a:t>• denominator rule</a:t>
            </a:r>
          </a:p>
          <a:p>
            <a:pPr algn="l"/>
            <a:r>
              <a:rPr sz="650" b="0" i="0">
                <a:solidFill>
                  <a:srgbClr val="1F2933"/>
                </a:solidFill>
                <a:latin typeface="Arial"/>
              </a:rPr>
              <a:t>• number of arms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773168" y="4389120"/>
            <a:ext cx="54863" cy="0"/>
          </a:xfrm>
          <a:prstGeom prst="line">
            <a:avLst/>
          </a:prstGeom>
          <a:ln w="1270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4828031" y="3904487"/>
            <a:ext cx="98755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4882895" y="3950208"/>
            <a:ext cx="219456" cy="219456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20640" y="3922776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1" i="0">
                <a:solidFill>
                  <a:srgbClr val="1F2933"/>
                </a:solidFill>
                <a:latin typeface="Arial"/>
              </a:rPr>
              <a:t>Compose the plan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64607" y="4206240"/>
            <a:ext cx="914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50" b="0" i="0">
                <a:solidFill>
                  <a:srgbClr val="1F2933"/>
                </a:solidFill>
                <a:latin typeface="Arial"/>
              </a:rPr>
              <a:t>• null kind and p0, tail</a:t>
            </a:r>
          </a:p>
          <a:p>
            <a:pPr algn="l"/>
            <a:r>
              <a:rPr sz="650" b="0" i="0">
                <a:solidFill>
                  <a:srgbClr val="1F2933"/>
                </a:solidFill>
                <a:latin typeface="Arial"/>
              </a:rPr>
              <a:t>• test family, floor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5815583" y="4389120"/>
            <a:ext cx="54864" cy="0"/>
          </a:xfrm>
          <a:prstGeom prst="line">
            <a:avLst/>
          </a:prstGeom>
          <a:ln w="1270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5870448" y="3904487"/>
            <a:ext cx="98755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5925312" y="3950208"/>
            <a:ext cx="219456" cy="219456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63056" y="3922776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1" i="0">
                <a:solidFill>
                  <a:srgbClr val="1F2933"/>
                </a:solidFill>
                <a:latin typeface="Arial"/>
              </a:rPr>
              <a:t>Verify ⟳ 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07024" y="4206240"/>
            <a:ext cx="914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50" b="0" i="0">
                <a:solidFill>
                  <a:srgbClr val="1F2933"/>
                </a:solidFill>
                <a:latin typeface="Arial"/>
              </a:rPr>
              <a:t>• plan vs the codebook</a:t>
            </a:r>
          </a:p>
          <a:p>
            <a:pPr algn="l"/>
            <a:r>
              <a:rPr sz="650" b="0" i="0">
                <a:solidFill>
                  <a:srgbClr val="1F2933"/>
                </a:solidFill>
                <a:latin typeface="Arial"/>
              </a:rPr>
              <a:t>• re-ask once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743200" y="4937760"/>
            <a:ext cx="4114800" cy="347472"/>
          </a:xfrm>
          <a:prstGeom prst="roundRect">
            <a:avLst>
              <a:gd name="adj" fmla="val 6000"/>
            </a:avLst>
          </a:prstGeom>
          <a:solidFill>
            <a:srgbClr val="FBE2C9"/>
          </a:solidFill>
          <a:ln w="15875">
            <a:solidFill>
              <a:srgbClr val="D97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2798064" y="4946904"/>
            <a:ext cx="4023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1" i="0">
                <a:solidFill>
                  <a:srgbClr val="D9792F"/>
                </a:solidFill>
                <a:latin typeface="Arial"/>
              </a:rPr>
              <a:t>Contract: </a:t>
            </a:r>
            <a:r>
              <a:rPr sz="720" b="0" i="0">
                <a:solidFill>
                  <a:srgbClr val="1F2933"/>
                </a:solidFill>
                <a:latin typeface="Arial"/>
              </a:rPr>
              <a:t>the harness resolves the plan's primitive into its exact rule and states it to S2, so S2 implements a definition rather than interpreting advice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7013448" y="4343400"/>
            <a:ext cx="210312" cy="0"/>
          </a:xfrm>
          <a:prstGeom prst="line">
            <a:avLst/>
          </a:prstGeom>
          <a:ln w="25400">
            <a:solidFill>
              <a:srgbClr val="D979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7269480" y="3337560"/>
            <a:ext cx="2514600" cy="2011680"/>
          </a:xfrm>
          <a:prstGeom prst="roundRect">
            <a:avLst>
              <a:gd name="adj" fmla="val 6000"/>
            </a:avLst>
          </a:prstGeom>
          <a:solidFill>
            <a:srgbClr val="E6F0FA"/>
          </a:solidFill>
          <a:ln w="9525">
            <a:solidFill>
              <a:srgbClr val="B9C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7342631" y="3392424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S2</a:t>
            </a:r>
          </a:p>
          <a:p>
            <a:pPr algn="ctr"/>
            <a:r>
              <a:rPr sz="605">
                <a:solidFill>
                  <a:srgbClr val="FFFFFF"/>
                </a:solidFill>
                <a:latin typeface="Arial"/>
              </a:rPr>
              <a:t>LLM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36408" y="3364991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  <a:latin typeface="Arial"/>
              </a:rPr>
              <a:t>Retrieve</a:t>
            </a:r>
          </a:p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plan to evidence sets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33488" y="3904487"/>
            <a:ext cx="2395728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 i="0">
                <a:solidFill>
                  <a:srgbClr val="1F2933"/>
                </a:solidFill>
                <a:latin typeface="Arial"/>
              </a:rPr>
              <a:t>• told the schema (column listing) and the contract</a:t>
            </a:r>
          </a:p>
          <a:p>
            <a:pPr algn="l"/>
            <a:r>
              <a:rPr sz="700" b="0" i="0">
                <a:solidFill>
                  <a:srgbClr val="1F2933"/>
                </a:solidFill>
                <a:latin typeface="Arial"/>
              </a:rPr>
              <a:t>• writes one SQL per arm, one row per report: in_den, in_num, excl</a:t>
            </a:r>
          </a:p>
          <a:p>
            <a:pPr algn="l"/>
            <a:r>
              <a:rPr sz="700" b="0" i="0">
                <a:solidFill>
                  <a:srgbClr val="1F2933"/>
                </a:solidFill>
                <a:latin typeface="Arial"/>
              </a:rPr>
              <a:t>• sandbox: read-only execution → n, k and report-id sets</a:t>
            </a:r>
          </a:p>
          <a:p>
            <a:pPr algn="l"/>
            <a:r>
              <a:rPr sz="700" b="0" i="0">
                <a:solidFill>
                  <a:srgbClr val="1F2933"/>
                </a:solidFill>
                <a:latin typeface="Arial"/>
              </a:rPr>
              <a:t>• Verify ⟳ ≤2: rejected SQL, n = k, empty arm, co-exist / tie / adjacency leaks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9802368" y="4343400"/>
            <a:ext cx="210312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10058400" y="3337560"/>
            <a:ext cx="1947672" cy="2011680"/>
          </a:xfrm>
          <a:prstGeom prst="roundRect">
            <a:avLst>
              <a:gd name="adj" fmla="val 6000"/>
            </a:avLst>
          </a:prstGeom>
          <a:solidFill>
            <a:srgbClr val="EFEAF8"/>
          </a:solidFill>
          <a:ln w="9525">
            <a:solidFill>
              <a:srgbClr val="CFC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10131552" y="3392424"/>
            <a:ext cx="457200" cy="457200"/>
          </a:xfrm>
          <a:prstGeom prst="ellipse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S3</a:t>
            </a:r>
          </a:p>
          <a:p>
            <a:pPr algn="ctr"/>
            <a:r>
              <a:rPr sz="605">
                <a:solidFill>
                  <a:srgbClr val="FFFFFF"/>
                </a:solidFill>
                <a:latin typeface="Arial"/>
              </a:rPr>
              <a:t>function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625328" y="3364991"/>
            <a:ext cx="13716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6B4FBB"/>
                </a:solidFill>
                <a:latin typeface="Arial"/>
              </a:rPr>
              <a:t>Test</a:t>
            </a:r>
          </a:p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exact, deterministic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13264" y="3904487"/>
            <a:ext cx="182880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80" b="0" i="0">
                <a:solidFill>
                  <a:srgbClr val="1F2933"/>
                </a:solidFill>
                <a:latin typeface="Arial"/>
              </a:rPr>
              <a:t>• exact binomial vs p0 (fixed, text-stated or data-derived)</a:t>
            </a:r>
          </a:p>
          <a:p>
            <a:pPr algn="l"/>
            <a:r>
              <a:rPr sz="680" b="0" i="0">
                <a:solidFill>
                  <a:srgbClr val="1F2933"/>
                </a:solidFill>
                <a:latin typeface="Arial"/>
              </a:rPr>
              <a:t>• Fisher's exact test for two arms</a:t>
            </a:r>
          </a:p>
          <a:p>
            <a:pPr algn="l"/>
            <a:r>
              <a:rPr sz="680" b="0" i="0">
                <a:solidFill>
                  <a:srgbClr val="1F2933"/>
                </a:solidFill>
                <a:latin typeface="Arial"/>
              </a:rPr>
              <a:t>• modal-vs-runner-up for argmax</a:t>
            </a:r>
          </a:p>
          <a:p>
            <a:pPr algn="l"/>
            <a:r>
              <a:rPr sz="680" b="0" i="0">
                <a:solidFill>
                  <a:srgbClr val="1F2933"/>
                </a:solidFill>
                <a:latin typeface="Arial"/>
              </a:rPr>
              <a:t>• floor n ≥ 10; both tails, CI, effect size</a:t>
            </a:r>
          </a:p>
        </p:txBody>
      </p:sp>
      <p:sp>
        <p:nvSpPr>
          <p:cNvPr id="100" name="Oval 99"/>
          <p:cNvSpPr/>
          <p:nvPr/>
        </p:nvSpPr>
        <p:spPr>
          <a:xfrm>
            <a:off x="10113264" y="4965192"/>
            <a:ext cx="182880" cy="18288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87000" y="4937760"/>
            <a:ext cx="54864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00" b="1" i="0">
                <a:solidFill>
                  <a:srgbClr val="1F2933"/>
                </a:solidFill>
                <a:latin typeface="Arial"/>
              </a:rPr>
              <a:t>Supported</a:t>
            </a:r>
          </a:p>
        </p:txBody>
      </p:sp>
      <p:sp>
        <p:nvSpPr>
          <p:cNvPr id="102" name="Oval 101"/>
          <p:cNvSpPr/>
          <p:nvPr/>
        </p:nvSpPr>
        <p:spPr>
          <a:xfrm>
            <a:off x="10753344" y="4965192"/>
            <a:ext cx="182880" cy="182880"/>
          </a:xfrm>
          <a:prstGeom prst="ellipse">
            <a:avLst/>
          </a:prstGeom>
          <a:solidFill>
            <a:srgbClr val="B54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✗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927080" y="4937760"/>
            <a:ext cx="457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00" b="1" i="0">
                <a:solidFill>
                  <a:srgbClr val="1F2933"/>
                </a:solidFill>
                <a:latin typeface="Arial"/>
              </a:rPr>
              <a:t>Refuted</a:t>
            </a:r>
          </a:p>
        </p:txBody>
      </p:sp>
      <p:sp>
        <p:nvSpPr>
          <p:cNvPr id="104" name="Oval 103"/>
          <p:cNvSpPr/>
          <p:nvPr/>
        </p:nvSpPr>
        <p:spPr>
          <a:xfrm>
            <a:off x="11283696" y="4965192"/>
            <a:ext cx="182880" cy="1828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457432" y="4937760"/>
            <a:ext cx="71323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00" b="1" i="0">
                <a:solidFill>
                  <a:srgbClr val="1F2933"/>
                </a:solidFill>
                <a:latin typeface="Arial"/>
              </a:rPr>
              <a:t>Insufficient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113264" y="5148072"/>
            <a:ext cx="1828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580" b="0" i="0">
                <a:solidFill>
                  <a:srgbClr val="6B7280"/>
                </a:solidFill>
                <a:latin typeface="Arial"/>
              </a:rPr>
              <a:t>insufficient = not-locatable / sparse / underpowered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37160" y="5532120"/>
            <a:ext cx="11914632" cy="1188720"/>
          </a:xfrm>
          <a:prstGeom prst="roundRect">
            <a:avLst>
              <a:gd name="adj" fmla="val 4000"/>
            </a:avLst>
          </a:prstGeom>
          <a:solidFill>
            <a:srgbClr val="F1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274320" y="5897880"/>
            <a:ext cx="384048" cy="384048"/>
          </a:xfrm>
          <a:prstGeom prst="ellipse">
            <a:avLst/>
          </a:prstGeom>
          <a:solidFill>
            <a:srgbClr val="4B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1520" y="585216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4B3F63"/>
                </a:solidFill>
                <a:latin typeface="Arial"/>
              </a:rPr>
              <a:t>Stage-level Evaluation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31520" y="626364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Arial"/>
              </a:rPr>
              <a:t>any stage can be set to gold to isolate the others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063240" y="5641848"/>
            <a:ext cx="288036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Document 111"/>
          <p:cNvSpPr/>
          <p:nvPr/>
        </p:nvSpPr>
        <p:spPr>
          <a:xfrm>
            <a:off x="3154680" y="5897880"/>
            <a:ext cx="347472" cy="384048"/>
          </a:xfrm>
          <a:prstGeom prst="flowChartDocument">
            <a:avLst/>
          </a:prstGeom>
          <a:solidFill>
            <a:srgbClr val="FFFFFF"/>
          </a:solidFill>
          <a:ln w="1587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593592" y="5669280"/>
            <a:ext cx="2286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E7D4F"/>
                </a:solidFill>
                <a:latin typeface="Arial"/>
              </a:rPr>
              <a:t>Plan correctness</a:t>
            </a:r>
          </a:p>
          <a:p>
            <a:pPr algn="l"/>
            <a:r>
              <a:rPr sz="720" b="0" i="0">
                <a:solidFill>
                  <a:srgbClr val="1F2933"/>
                </a:solidFill>
                <a:latin typeface="Arial"/>
              </a:rPr>
              <a:t>the plan against the gold plan</a:t>
            </a:r>
          </a:p>
          <a:p>
            <a:pPr algn="l"/>
            <a:r>
              <a:rPr sz="700" b="0" i="0">
                <a:solidFill>
                  <a:srgbClr val="6B7280"/>
                </a:solidFill>
                <a:latin typeface="Arial"/>
              </a:rPr>
              <a:t>plan EM, claim-type EM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062472" y="5641848"/>
            <a:ext cx="288036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Can 114"/>
          <p:cNvSpPr/>
          <p:nvPr/>
        </p:nvSpPr>
        <p:spPr>
          <a:xfrm>
            <a:off x="6153912" y="5897880"/>
            <a:ext cx="347472" cy="384048"/>
          </a:xfrm>
          <a:prstGeom prst="can">
            <a:avLst/>
          </a:prstGeom>
          <a:solidFill>
            <a:srgbClr val="FFFFFF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592824" y="5669280"/>
            <a:ext cx="2286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B6CB0"/>
                </a:solidFill>
                <a:latin typeface="Arial"/>
              </a:rPr>
              <a:t>Evidence correctness</a:t>
            </a:r>
          </a:p>
          <a:p>
            <a:pPr algn="l"/>
            <a:r>
              <a:rPr sz="720" b="0" i="0">
                <a:solidFill>
                  <a:srgbClr val="1F2933"/>
                </a:solidFill>
                <a:latin typeface="Arial"/>
              </a:rPr>
              <a:t>the retrieved report sets against the gold sets</a:t>
            </a:r>
          </a:p>
          <a:p>
            <a:pPr algn="l"/>
            <a:r>
              <a:rPr sz="700" b="0" i="0">
                <a:solidFill>
                  <a:srgbClr val="6B7280"/>
                </a:solidFill>
                <a:latin typeface="Arial"/>
              </a:rPr>
              <a:t>evidence F1, co-exist / tie leak, faithfulness P(evidence exact | verdict right)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061704" y="5641848"/>
            <a:ext cx="288036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Gear 6 117"/>
          <p:cNvSpPr/>
          <p:nvPr/>
        </p:nvSpPr>
        <p:spPr>
          <a:xfrm>
            <a:off x="9153144" y="5897880"/>
            <a:ext cx="347472" cy="384048"/>
          </a:xfrm>
          <a:prstGeom prst="gear6">
            <a:avLst/>
          </a:prstGeom>
          <a:solidFill>
            <a:srgbClr val="FFFFFF"/>
          </a:solidFill>
          <a:ln w="15875">
            <a:solidFill>
              <a:srgbClr val="6B4F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592056" y="5669280"/>
            <a:ext cx="22860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B4FBB"/>
                </a:solidFill>
                <a:latin typeface="Arial"/>
              </a:rPr>
              <a:t>Verdict and abstention</a:t>
            </a:r>
          </a:p>
          <a:p>
            <a:pPr algn="l"/>
            <a:r>
              <a:rPr sz="720" b="0" i="0">
                <a:solidFill>
                  <a:srgbClr val="1F2933"/>
                </a:solidFill>
                <a:latin typeface="Arial"/>
              </a:rPr>
              <a:t>the test and verdict against the gold</a:t>
            </a:r>
          </a:p>
          <a:p>
            <a:pPr algn="l"/>
            <a:r>
              <a:rPr sz="700" b="0" i="0">
                <a:solidFill>
                  <a:srgbClr val="6B7280"/>
                </a:solidFill>
                <a:latin typeface="Arial"/>
              </a:rPr>
              <a:t>accuracy, macro P/R/F1, p-agreement, overclaim, underclaim, sub-type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