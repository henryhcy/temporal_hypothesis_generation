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488289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" y="73152"/>
            <a:ext cx="9875520" cy="201168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37744" y="118872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Times New Roman"/>
              </a:rPr>
              <a:t>STRATA Benchmark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566928"/>
            <a:ext cx="196596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56032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03504"/>
            <a:ext cx="1344167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Clinical timelines</a:t>
            </a:r>
          </a:p>
        </p:txBody>
      </p:sp>
      <p:pic>
        <p:nvPicPr>
          <p:cNvPr id="8" name="Picture 7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9264"/>
            <a:ext cx="329184" cy="329184"/>
          </a:xfrm>
          <a:prstGeom prst="rect">
            <a:avLst/>
          </a:prstGeom>
        </p:spPr>
      </p:pic>
      <p:pic>
        <p:nvPicPr>
          <p:cNvPr id="9" name="Picture 8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969264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24128" y="932688"/>
            <a:ext cx="1069848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3,166 VAERS reports, 3 vaccines (MedTempo)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4048" y="1591056"/>
            <a:ext cx="1563624" cy="0"/>
          </a:xfrm>
          <a:prstGeom prst="line">
            <a:avLst/>
          </a:prstGeom>
          <a:ln w="22225">
            <a:solidFill>
              <a:srgbClr val="4F6B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02336" y="1517904"/>
            <a:ext cx="146304" cy="14630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" y="1682496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4F6B75"/>
                </a:solidFill>
                <a:latin typeface="Comic Sans MS"/>
              </a:rPr>
              <a:t>Fever</a:t>
            </a:r>
          </a:p>
        </p:txBody>
      </p:sp>
      <p:sp>
        <p:nvSpPr>
          <p:cNvPr id="14" name="Oval 13"/>
          <p:cNvSpPr/>
          <p:nvPr/>
        </p:nvSpPr>
        <p:spPr>
          <a:xfrm>
            <a:off x="1092707" y="1517904"/>
            <a:ext cx="146304" cy="14630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59" y="1682496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A0522D"/>
                </a:solidFill>
                <a:latin typeface="Comic Sans MS"/>
              </a:rPr>
              <a:t>Headache</a:t>
            </a:r>
          </a:p>
        </p:txBody>
      </p:sp>
      <p:sp>
        <p:nvSpPr>
          <p:cNvPr id="16" name="Oval 15"/>
          <p:cNvSpPr/>
          <p:nvPr/>
        </p:nvSpPr>
        <p:spPr>
          <a:xfrm>
            <a:off x="1783079" y="1517904"/>
            <a:ext cx="146304" cy="146304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1" y="1682496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A8812E"/>
                </a:solidFill>
                <a:latin typeface="Comic Sans MS"/>
              </a:rPr>
              <a:t>Fatigue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353312"/>
            <a:ext cx="178308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F5F5F"/>
                </a:solidFill>
                <a:latin typeface="Comic Sans MS"/>
              </a:rPr>
              <a:t>a leveled order: one stage per circle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67128" y="1289304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350008" y="566928"/>
            <a:ext cx="288036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423160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6936" y="603504"/>
            <a:ext cx="225856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Hypothesis templates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423160" y="950976"/>
          <a:ext cx="2734056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19656"/>
              </a:tblGrid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precedes B in ≥ 2/3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5248655" y="1289304"/>
            <a:ext cx="164593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31536" y="566928"/>
            <a:ext cx="210312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504688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603504"/>
            <a:ext cx="1481327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Groups and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04688" y="950976"/>
            <a:ext cx="1956815" cy="320040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408" y="987552"/>
            <a:ext cx="246888" cy="2468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852160" y="950976"/>
            <a:ext cx="1591055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26 groups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9 report, 16 cohort, 1 two-cohort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04688" y="1298448"/>
            <a:ext cx="1956815" cy="320040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408" y="1335024"/>
            <a:ext cx="246888" cy="2468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852160" y="1298448"/>
            <a:ext cx="1591055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7 claim families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order, timing and position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04688" y="1645920"/>
            <a:ext cx="1956815" cy="320040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chart-no-axes-column_4F6B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0408" y="1682496"/>
            <a:ext cx="246888" cy="24688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852160" y="1645920"/>
            <a:ext cx="1591055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3 difficulty levels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Easy, Medium, Hard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52944" y="1289304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735824" y="566928"/>
            <a:ext cx="2139696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808976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603504"/>
            <a:ext cx="1517903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Gold at every stage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08976" y="950976"/>
            <a:ext cx="1993391" cy="320040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4696" y="987552"/>
            <a:ext cx="246888" cy="24688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56448" y="950976"/>
            <a:ext cx="1627631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Plan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rule, null, tail, test, floor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6" y="1298448"/>
            <a:ext cx="1993391" cy="320040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4696" y="1335024"/>
            <a:ext cx="246888" cy="24688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156448" y="1298448"/>
            <a:ext cx="1627631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Evidence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report ids per arm; n, 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08976" y="1645920"/>
            <a:ext cx="1993391" cy="320040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4696" y="1682496"/>
            <a:ext cx="246888" cy="24688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156448" y="1645920"/>
            <a:ext cx="1627631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Statistics, verdict</a:t>
            </a:r>
          </a:p>
          <a:p>
            <a:pPr algn="l">
              <a:lnSpc>
                <a:spcPct val="85000"/>
              </a:lnSpc>
            </a:pPr>
            <a:r>
              <a:rPr sz="850" b="0" i="0">
                <a:solidFill>
                  <a:srgbClr val="5F5F5F"/>
                </a:solidFill>
                <a:latin typeface="Comic Sans MS"/>
              </a:rPr>
              <a:t>p, Wilson CI, Cohen's 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" y="2157984"/>
            <a:ext cx="9875520" cy="2633472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37744" y="2203703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2176272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Times New Roman"/>
              </a:rPr>
              <a:t>ART Verification Pipeline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2880" y="2615184"/>
            <a:ext cx="137160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37744" y="2651760"/>
            <a:ext cx="1261872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Inputs</a:t>
            </a:r>
          </a:p>
        </p:txBody>
      </p:sp>
      <p:pic>
        <p:nvPicPr>
          <p:cNvPr id="55" name="Picture 54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017520"/>
            <a:ext cx="274320" cy="274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85216" y="2999232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claim, cohort</a:t>
            </a:r>
          </a:p>
        </p:txBody>
      </p:sp>
      <p:pic>
        <p:nvPicPr>
          <p:cNvPr id="57" name="Picture 56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6032" y="3364991"/>
            <a:ext cx="274320" cy="2743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85216" y="3346703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codebook</a:t>
            </a:r>
          </a:p>
        </p:txBody>
      </p:sp>
      <p:pic>
        <p:nvPicPr>
          <p:cNvPr id="59" name="Picture 58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032" y="3712463"/>
            <a:ext cx="274320" cy="2743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5216" y="3694176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timeline DB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572768" y="3355848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755648" y="2615184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1828800" y="2679191"/>
            <a:ext cx="420624" cy="42062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S1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LLM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2576" y="2651760"/>
            <a:ext cx="303580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4F6B75"/>
                </a:solidFill>
                <a:latin typeface="Times New Roman"/>
              </a:rPr>
              <a:t>Articulate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a structured plan; the mapping is withheld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828800" y="3182112"/>
            <a:ext cx="836675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1865376" y="3236976"/>
            <a:ext cx="182880" cy="1828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204972"/>
            <a:ext cx="598931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Parse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74519" y="3456432"/>
            <a:ext cx="763524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events, cohort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665476" y="3465576"/>
            <a:ext cx="54864" cy="0"/>
          </a:xfrm>
          <a:prstGeom prst="line">
            <a:avLst/>
          </a:prstGeom>
          <a:ln w="12700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2720339" y="3182112"/>
            <a:ext cx="836675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2756915" y="3236976"/>
            <a:ext cx="182880" cy="1828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48939" y="3204972"/>
            <a:ext cx="598931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Primitive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6059" y="3456432"/>
            <a:ext cx="763524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denominator rule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557015" y="3465576"/>
            <a:ext cx="54864" cy="0"/>
          </a:xfrm>
          <a:prstGeom prst="line">
            <a:avLst/>
          </a:prstGeom>
          <a:ln w="12700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3611879" y="3182112"/>
            <a:ext cx="836675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648456" y="3236976"/>
            <a:ext cx="182880" cy="1828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40479" y="3204972"/>
            <a:ext cx="598931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Compose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599" y="3456432"/>
            <a:ext cx="763524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null, p0, test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448555" y="3465576"/>
            <a:ext cx="54864" cy="0"/>
          </a:xfrm>
          <a:prstGeom prst="line">
            <a:avLst/>
          </a:prstGeom>
          <a:ln w="12700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4503420" y="3182112"/>
            <a:ext cx="836675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4539996" y="3236976"/>
            <a:ext cx="182880" cy="1828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32020" y="3204972"/>
            <a:ext cx="598931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Verify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49140" y="3456432"/>
            <a:ext cx="763524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1 round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828800" y="3803904"/>
            <a:ext cx="3511296" cy="237744"/>
          </a:xfrm>
          <a:prstGeom prst="roundRect">
            <a:avLst>
              <a:gd name="adj" fmla="val 12000"/>
            </a:avLst>
          </a:prstGeom>
          <a:solidFill>
            <a:srgbClr val="F1E2DA"/>
          </a:solidFill>
          <a:ln w="1016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1865376" y="3803904"/>
            <a:ext cx="3438144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A0522D"/>
                </a:solidFill>
                <a:latin typeface="Comic Sans MS"/>
              </a:rPr>
              <a:t>Contract: </a:t>
            </a:r>
            <a:r>
              <a:rPr sz="900" b="0" i="0">
                <a:solidFill>
                  <a:srgbClr val="2B2B2B"/>
                </a:solidFill>
                <a:latin typeface="Comic Sans MS"/>
              </a:rPr>
              <a:t>the harness resolves the primitive into its exact rule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31536" y="3355848"/>
            <a:ext cx="164592" cy="0"/>
          </a:xfrm>
          <a:prstGeom prst="line">
            <a:avLst/>
          </a:prstGeom>
          <a:ln w="25400">
            <a:solidFill>
              <a:srgbClr val="A0522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5614416" y="2615184"/>
            <a:ext cx="2286000" cy="1481328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5687568" y="2679191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S2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LLM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81344" y="2651760"/>
            <a:ext cx="1664207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A0522D"/>
                </a:solidFill>
                <a:latin typeface="Times New Roman"/>
              </a:rPr>
              <a:t>Retrieve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plan to evidence sets</a:t>
            </a:r>
          </a:p>
        </p:txBody>
      </p:sp>
      <p:pic>
        <p:nvPicPr>
          <p:cNvPr id="90" name="Picture 89" descr="code_A0522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5855" y="3218688"/>
            <a:ext cx="237744" cy="23774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998464" y="3200400"/>
            <a:ext cx="18470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one SQL per arm</a:t>
            </a:r>
          </a:p>
        </p:txBody>
      </p:sp>
      <p:pic>
        <p:nvPicPr>
          <p:cNvPr id="92" name="Picture 91" descr="table-2_A0522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05855" y="3502152"/>
            <a:ext cx="237744" cy="23774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998464" y="3483864"/>
            <a:ext cx="18470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sandbox: n, k, report ids</a:t>
            </a:r>
          </a:p>
        </p:txBody>
      </p:sp>
      <p:pic>
        <p:nvPicPr>
          <p:cNvPr id="94" name="Picture 93" descr="timer-reset_A0522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05855" y="3785615"/>
            <a:ext cx="237744" cy="237744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5998464" y="3767328"/>
            <a:ext cx="18470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repair: up to 2 rounds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918704" y="3355848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8101583" y="2615184"/>
            <a:ext cx="1773936" cy="1481328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174736" y="2679191"/>
            <a:ext cx="420624" cy="420624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S3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function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68511" y="2651760"/>
            <a:ext cx="1152143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A8812E"/>
                </a:solidFill>
                <a:latin typeface="Times New Roman"/>
              </a:rPr>
              <a:t>Test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exact, deterministic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193023" y="3163824"/>
            <a:ext cx="162763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binomial, Fisher or modal vs runner-up; floor n ≥ 10</a:t>
            </a:r>
          </a:p>
        </p:txBody>
      </p:sp>
      <p:pic>
        <p:nvPicPr>
          <p:cNvPr id="101" name="Picture 100" descr="circle-check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11311" y="3566160"/>
            <a:ext cx="155448" cy="1554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412480" y="3529584"/>
            <a:ext cx="140817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supported</a:t>
            </a:r>
          </a:p>
        </p:txBody>
      </p:sp>
      <p:pic>
        <p:nvPicPr>
          <p:cNvPr id="103" name="Picture 102" descr="circle-x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1311" y="3739896"/>
            <a:ext cx="155448" cy="15544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412480" y="3703320"/>
            <a:ext cx="140817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refuted</a:t>
            </a:r>
          </a:p>
        </p:txBody>
      </p:sp>
      <p:pic>
        <p:nvPicPr>
          <p:cNvPr id="105" name="Picture 104" descr="circle-help_A8812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11311" y="3913632"/>
            <a:ext cx="155448" cy="155448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8412480" y="3877056"/>
            <a:ext cx="140817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insufficient</a:t>
            </a:r>
          </a:p>
        </p:txBody>
      </p:sp>
      <p:sp>
        <p:nvSpPr>
          <p:cNvPr id="107" name="Oval 106"/>
          <p:cNvSpPr/>
          <p:nvPr/>
        </p:nvSpPr>
        <p:spPr>
          <a:xfrm>
            <a:off x="219456" y="4242816"/>
            <a:ext cx="384048" cy="38404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76656" y="4187952"/>
            <a:ext cx="109728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F6B75"/>
                </a:solidFill>
                <a:latin typeface="Times New Roman"/>
              </a:rPr>
              <a:t>Evaluation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6656" y="4443984"/>
            <a:ext cx="1143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" b="0" i="0">
                <a:solidFill>
                  <a:srgbClr val="5F5F5F"/>
                </a:solidFill>
                <a:latin typeface="Comic Sans MS"/>
              </a:rPr>
              <a:t>any stage can be set to gold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755648" y="4169664"/>
            <a:ext cx="36576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1" name="Picture 110" descr="file-check_4F6B7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28800" y="4297680"/>
            <a:ext cx="292608" cy="29260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176272" y="4187952"/>
            <a:ext cx="3200400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4F6B75"/>
                </a:solidFill>
                <a:latin typeface="Comic Sans MS"/>
              </a:rPr>
              <a:t>Plan correctness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plan fields vs gold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614416" y="4169664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4" name="Picture 113" descr="database_A0522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687568" y="4297680"/>
            <a:ext cx="292608" cy="292608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6035040" y="4187952"/>
            <a:ext cx="1828800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A0522D"/>
                </a:solidFill>
                <a:latin typeface="Comic Sans MS"/>
              </a:rPr>
              <a:t>Evidence correctness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evidence F1, leaks, faithfulness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101583" y="4169664"/>
            <a:ext cx="1773936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7" name="Picture 116" descr="scale_A8812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74736" y="4297680"/>
            <a:ext cx="292608" cy="292608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8522208" y="4187952"/>
            <a:ext cx="1316736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A8812E"/>
                </a:solidFill>
                <a:latin typeface="Comic Sans MS"/>
              </a:rPr>
              <a:t>Verdict</a:t>
            </a:r>
          </a:p>
          <a:p>
            <a:pPr algn="l">
              <a:lnSpc>
                <a:spcPct val="9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accuracy, P/R/F1, abstention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