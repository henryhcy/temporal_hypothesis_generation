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" cy="77906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73152"/>
            <a:ext cx="4242816" cy="566928"/>
          </a:xfrm>
          <a:prstGeom prst="roundRect">
            <a:avLst>
              <a:gd name="adj" fmla="val 8000"/>
            </a:avLst>
          </a:prstGeom>
          <a:solidFill>
            <a:srgbClr val="FBF3DC"/>
          </a:solidFill>
          <a:ln w="9525">
            <a:solidFill>
              <a:srgbClr val="E3D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message-square-quote_A881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192024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"/>
            <a:ext cx="3730752" cy="51206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B2B2B"/>
                </a:solidFill>
                <a:latin typeface="Comic Sans MS"/>
              </a:rPr>
              <a:t>Claim (P-V1)  </a:t>
            </a:r>
            <a:r>
              <a:rPr sz="1050" b="0" i="0">
                <a:solidFill>
                  <a:srgbClr val="2B2B2B"/>
                </a:solidFill>
                <a:latin typeface="Comic Sans MS"/>
              </a:rPr>
              <a:t>After Moderna, Pain typically occurs before Asthenia.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6615B"/>
                </a:solidFill>
                <a:latin typeface="Comic Sans MS"/>
              </a:rPr>
              <a:t>gold: </a:t>
            </a:r>
            <a:r>
              <a:rPr sz="950" b="1" i="0">
                <a:solidFill>
                  <a:srgbClr val="5E8263"/>
                </a:solidFill>
                <a:latin typeface="Comic Sans MS"/>
              </a:rPr>
              <a:t>supported</a:t>
            </a:r>
            <a:r>
              <a:rPr sz="950" b="0" i="0">
                <a:solidFill>
                  <a:srgbClr val="66615B"/>
                </a:solidFill>
                <a:latin typeface="Comic Sans MS"/>
              </a:rPr>
              <a:t>  (k = 18 of n = 22, p = 0.0022)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" y="731520"/>
            <a:ext cx="4242816" cy="3054096"/>
          </a:xfrm>
          <a:prstGeom prst="roundRect">
            <a:avLst>
              <a:gd name="adj" fmla="val 8000"/>
            </a:avLst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46304" y="768096"/>
            <a:ext cx="4096511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6B75"/>
                </a:solidFill>
                <a:latin typeface="Times New Roman"/>
              </a:rPr>
              <a:t>(a) Which reports can witness the order?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1097280"/>
            <a:ext cx="1024128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B2B2B"/>
                </a:solidFill>
                <a:latin typeface="Comic Sans MS"/>
              </a:rPr>
              <a:t>MT-9306105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" y="1280160"/>
            <a:ext cx="1024128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1" i="0">
                <a:solidFill>
                  <a:srgbClr val="5E8263"/>
                </a:solidFill>
                <a:latin typeface="Comic Sans MS"/>
              </a:rPr>
              <a:t>counted: </a:t>
            </a:r>
          </a:p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5E8263"/>
                </a:solidFill>
                <a:latin typeface="Comic Sans MS"/>
              </a:rPr>
              <a:t>Pain 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097280"/>
            <a:ext cx="95097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25296" y="1115568"/>
            <a:ext cx="87782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50" b="0" i="0">
                <a:solidFill>
                  <a:srgbClr val="66615B"/>
                </a:solidFill>
                <a:latin typeface="Comic Sans MS"/>
              </a:rPr>
              <a:t>Nasal congestion</a:t>
            </a:r>
            <a:r>
              <a:rPr sz="850" b="0" i="0">
                <a:solidFill>
                  <a:srgbClr val="66615B"/>
                </a:solidFill>
                <a:latin typeface="Comic Sans MS"/>
              </a:rPr>
              <a:t> …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48839" y="1298448"/>
            <a:ext cx="91440" cy="0"/>
          </a:xfrm>
          <a:prstGeom prst="line">
            <a:avLst/>
          </a:prstGeom>
          <a:ln w="12700">
            <a:solidFill>
              <a:srgbClr val="66615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40280" y="1097280"/>
            <a:ext cx="95097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276856" y="1115568"/>
            <a:ext cx="87782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50" b="1" i="0">
                <a:solidFill>
                  <a:srgbClr val="A0522D"/>
                </a:solidFill>
                <a:latin typeface="Comic Sans MS"/>
              </a:rPr>
              <a:t>Pain</a:t>
            </a:r>
            <a:r>
              <a:rPr sz="850" b="0" i="0">
                <a:solidFill>
                  <a:srgbClr val="66615B"/>
                </a:solidFill>
                <a:latin typeface="Comic Sans MS"/>
              </a:rPr>
              <a:t> 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1298448"/>
            <a:ext cx="91440" cy="0"/>
          </a:xfrm>
          <a:prstGeom prst="line">
            <a:avLst/>
          </a:prstGeom>
          <a:ln w="12700">
            <a:solidFill>
              <a:srgbClr val="66615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91840" y="1097280"/>
            <a:ext cx="95097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328416" y="1115568"/>
            <a:ext cx="87782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50" b="1" i="0">
                <a:solidFill>
                  <a:srgbClr val="4F6B75"/>
                </a:solidFill>
                <a:latin typeface="Comic Sans MS"/>
              </a:rPr>
              <a:t>Asthenia</a:t>
            </a:r>
            <a:r>
              <a:rPr sz="850" b="0" i="0">
                <a:solidFill>
                  <a:srgbClr val="66615B"/>
                </a:solidFill>
                <a:latin typeface="Comic Sans MS"/>
              </a:rPr>
              <a:t>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" y="1627632"/>
            <a:ext cx="1024128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B2B2B"/>
                </a:solidFill>
                <a:latin typeface="Comic Sans MS"/>
              </a:rPr>
              <a:t>MT-0722607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" y="1810512"/>
            <a:ext cx="1024128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1" i="0">
                <a:solidFill>
                  <a:srgbClr val="A8812E"/>
                </a:solidFill>
                <a:latin typeface="Comic Sans MS"/>
              </a:rPr>
              <a:t>counted: </a:t>
            </a:r>
          </a:p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A8812E"/>
                </a:solidFill>
                <a:latin typeface="Comic Sans MS"/>
              </a:rPr>
              <a:t>Asthenia first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1627632"/>
            <a:ext cx="95097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25296" y="1645920"/>
            <a:ext cx="87782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50" b="1" i="0">
                <a:solidFill>
                  <a:srgbClr val="4F6B75"/>
                </a:solidFill>
                <a:latin typeface="Comic Sans MS"/>
              </a:rPr>
              <a:t>Asthenia</a:t>
            </a:r>
            <a:r>
              <a:rPr sz="850" b="0" i="0">
                <a:solidFill>
                  <a:srgbClr val="66615B"/>
                </a:solidFill>
                <a:latin typeface="Comic Sans MS"/>
              </a:rPr>
              <a:t> …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48839" y="1828800"/>
            <a:ext cx="91440" cy="0"/>
          </a:xfrm>
          <a:prstGeom prst="line">
            <a:avLst/>
          </a:prstGeom>
          <a:ln w="12700">
            <a:solidFill>
              <a:srgbClr val="66615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40280" y="1627632"/>
            <a:ext cx="95097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276856" y="1645920"/>
            <a:ext cx="87782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50" b="0" i="0">
                <a:solidFill>
                  <a:srgbClr val="66615B"/>
                </a:solidFill>
                <a:latin typeface="Comic Sans MS"/>
              </a:rPr>
              <a:t>Pyrexia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00400" y="1828800"/>
            <a:ext cx="91440" cy="0"/>
          </a:xfrm>
          <a:prstGeom prst="line">
            <a:avLst/>
          </a:prstGeom>
          <a:ln w="12700">
            <a:solidFill>
              <a:srgbClr val="66615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291840" y="1627632"/>
            <a:ext cx="95097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328416" y="1645920"/>
            <a:ext cx="87782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50" b="1" i="0">
                <a:solidFill>
                  <a:srgbClr val="A0522D"/>
                </a:solidFill>
                <a:latin typeface="Comic Sans MS"/>
              </a:rPr>
              <a:t>Pain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" y="2157984"/>
            <a:ext cx="1024128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B2B2B"/>
                </a:solidFill>
                <a:latin typeface="Comic Sans MS"/>
              </a:rPr>
              <a:t>MT-1658567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" y="2340864"/>
            <a:ext cx="1024128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1" i="0">
                <a:solidFill>
                  <a:srgbClr val="8A8A8A"/>
                </a:solidFill>
                <a:latin typeface="Comic Sans MS"/>
              </a:rPr>
              <a:t>excluded: </a:t>
            </a:r>
          </a:p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8A8A8A"/>
                </a:solidFill>
                <a:latin typeface="Comic Sans MS"/>
              </a:rPr>
              <a:t>same stage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2157984"/>
            <a:ext cx="95097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25296" y="2176272"/>
            <a:ext cx="87782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50" b="1" i="0">
                <a:solidFill>
                  <a:srgbClr val="4F6B75"/>
                </a:solidFill>
                <a:latin typeface="Comic Sans MS"/>
              </a:rPr>
              <a:t>Asthenia</a:t>
            </a:r>
            <a:r>
              <a:rPr sz="850" b="0" i="0">
                <a:solidFill>
                  <a:srgbClr val="66615B"/>
                </a:solidFill>
                <a:latin typeface="Comic Sans MS"/>
              </a:rPr>
              <a:t>, </a:t>
            </a:r>
            <a:r>
              <a:rPr sz="850" b="1" i="0">
                <a:solidFill>
                  <a:srgbClr val="A0522D"/>
                </a:solidFill>
                <a:latin typeface="Comic Sans MS"/>
              </a:rPr>
              <a:t>Pain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148839" y="2359152"/>
            <a:ext cx="91440" cy="0"/>
          </a:xfrm>
          <a:prstGeom prst="line">
            <a:avLst/>
          </a:prstGeom>
          <a:ln w="12700">
            <a:solidFill>
              <a:srgbClr val="66615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240280" y="2157984"/>
            <a:ext cx="95097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276856" y="2176272"/>
            <a:ext cx="87782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50" b="0" i="0">
                <a:solidFill>
                  <a:srgbClr val="66615B"/>
                </a:solidFill>
                <a:latin typeface="Comic Sans MS"/>
              </a:rPr>
              <a:t>Chest discomfort</a:t>
            </a:r>
            <a:r>
              <a:rPr sz="850" b="0" i="0">
                <a:solidFill>
                  <a:srgbClr val="66615B"/>
                </a:solidFill>
                <a:latin typeface="Comic Sans MS"/>
              </a:rPr>
              <a:t> 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" y="2688336"/>
            <a:ext cx="1024128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B2B2B"/>
                </a:solidFill>
                <a:latin typeface="Comic Sans MS"/>
              </a:rPr>
              <a:t>MT-1171286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" y="2871216"/>
            <a:ext cx="1024128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1" i="0">
                <a:solidFill>
                  <a:srgbClr val="8A8A8A"/>
                </a:solidFill>
                <a:latin typeface="Comic Sans MS"/>
              </a:rPr>
              <a:t>excluded: </a:t>
            </a:r>
          </a:p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8A8A8A"/>
                </a:solidFill>
                <a:latin typeface="Comic Sans MS"/>
              </a:rPr>
              <a:t>no Asthenia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8720" y="2688336"/>
            <a:ext cx="95097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25296" y="2706624"/>
            <a:ext cx="87782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50" b="1" i="0">
                <a:solidFill>
                  <a:srgbClr val="A0522D"/>
                </a:solidFill>
                <a:latin typeface="Comic Sans MS"/>
              </a:rPr>
              <a:t>Pain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148839" y="2889504"/>
            <a:ext cx="91440" cy="0"/>
          </a:xfrm>
          <a:prstGeom prst="line">
            <a:avLst/>
          </a:prstGeom>
          <a:ln w="12700">
            <a:solidFill>
              <a:srgbClr val="66615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240280" y="2688336"/>
            <a:ext cx="950976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2276856" y="2706624"/>
            <a:ext cx="87782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50" b="0" i="0">
                <a:solidFill>
                  <a:srgbClr val="66615B"/>
                </a:solidFill>
                <a:latin typeface="Comic Sans MS"/>
              </a:rPr>
              <a:t>Chills</a:t>
            </a:r>
            <a:r>
              <a:rPr sz="850" b="0" i="0">
                <a:solidFill>
                  <a:srgbClr val="66615B"/>
                </a:solidFill>
                <a:latin typeface="Comic Sans MS"/>
              </a:rPr>
              <a:t> 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" y="3218688"/>
            <a:ext cx="409651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6615B"/>
                </a:solidFill>
                <a:latin typeface="Comic Sans MS"/>
              </a:rPr>
              <a:t>Stages run left to right; events at one stage co-exist.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" y="3438144"/>
            <a:ext cx="4096511" cy="4023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B2B2B"/>
                </a:solidFill>
                <a:latin typeface="Comic Sans MS"/>
              </a:rPr>
              <a:t>Moderna: 983 reports, 30 with both events; </a:t>
            </a:r>
            <a:r>
              <a:rPr sz="950" b="1" i="0">
                <a:solidFill>
                  <a:srgbClr val="2B2B2B"/>
                </a:solidFill>
                <a:latin typeface="Comic Sans MS"/>
              </a:rPr>
              <a:t>8 at the same stage are excluded</a:t>
            </a:r>
            <a:r>
              <a:rPr sz="950" b="0" i="0">
                <a:solidFill>
                  <a:srgbClr val="2B2B2B"/>
                </a:solidFill>
                <a:latin typeface="Comic Sans MS"/>
              </a:rPr>
              <a:t>, so n = 22 and k = 18 (Pain first).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" y="3877055"/>
            <a:ext cx="4242816" cy="1572768"/>
          </a:xfrm>
          <a:prstGeom prst="roundRect">
            <a:avLst>
              <a:gd name="adj" fmla="val 8000"/>
            </a:avLst>
          </a:prstGeom>
          <a:solidFill>
            <a:srgbClr val="F8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46304" y="3913631"/>
            <a:ext cx="4096511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0522D"/>
                </a:solidFill>
                <a:latin typeface="Times New Roman"/>
              </a:rPr>
              <a:t>(b) EHRSQL-C: one query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4592" y="4224527"/>
            <a:ext cx="4059935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219456" y="4251959"/>
            <a:ext cx="3950208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A0522D"/>
                </a:solidFill>
                <a:latin typeface="Courier New"/>
              </a:rPr>
              <a:t>in_denominator = Pain.stage &lt; Asthenia.stage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2B2B2B"/>
                </a:solidFill>
                <a:latin typeface="Courier New"/>
              </a:rPr>
              <a:t>in_numerator   = Pain.stage &lt; Asthenia.stage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4592" y="4718303"/>
            <a:ext cx="4059935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B2B2B"/>
                </a:solidFill>
                <a:latin typeface="Comic Sans MS"/>
              </a:rPr>
              <a:t>n = 18, k = 18  →  p = 0.5</a:t>
            </a:r>
            <a:r>
              <a:rPr sz="950" b="0" i="0" baseline="30000">
                <a:solidFill>
                  <a:srgbClr val="2B2B2B"/>
                </a:solidFill>
                <a:latin typeface="Comic Sans MS"/>
              </a:rPr>
              <a:t>18</a:t>
            </a:r>
            <a:r>
              <a:rPr sz="950" b="0" i="0">
                <a:solidFill>
                  <a:srgbClr val="2B2B2B"/>
                </a:solidFill>
                <a:latin typeface="Comic Sans MS"/>
              </a:rPr>
              <a:t> ≈ 4 × 10</a:t>
            </a:r>
            <a:r>
              <a:rPr sz="950" b="0" i="0" baseline="30000">
                <a:solidFill>
                  <a:srgbClr val="2B2B2B"/>
                </a:solidFill>
                <a:latin typeface="Comic Sans MS"/>
              </a:rPr>
              <a:t>−6</a:t>
            </a:r>
            <a:r>
              <a:rPr sz="950" b="0" i="0">
                <a:solidFill>
                  <a:srgbClr val="2B2B2B"/>
                </a:solidFill>
                <a:latin typeface="Comic Sans MS"/>
              </a:rPr>
              <a:t>  →  </a:t>
            </a:r>
            <a:r>
              <a:rPr sz="950" b="1" i="0">
                <a:solidFill>
                  <a:srgbClr val="2B2B2B"/>
                </a:solidFill>
                <a:latin typeface="Comic Sans MS"/>
              </a:rPr>
              <a:t>supported</a:t>
            </a:r>
          </a:p>
        </p:txBody>
      </p:sp>
      <p:pic>
        <p:nvPicPr>
          <p:cNvPr id="48" name="Picture 47" descr="circle-x_A052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974336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3776" y="4946903"/>
            <a:ext cx="3767328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A0522D"/>
                </a:solidFill>
                <a:latin typeface="Comic Sans MS"/>
              </a:rPr>
              <a:t>Right verdict, wrong evidence: </a:t>
            </a:r>
            <a:r>
              <a:rPr sz="950" b="0" i="0">
                <a:solidFill>
                  <a:srgbClr val="2B2B2B"/>
                </a:solidFill>
                <a:latin typeface="Comic Sans MS"/>
              </a:rPr>
              <a:t>the 4 Asthenia-first reports are dropped, so n = k and the claim is supported whatever the data say.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" y="5541263"/>
            <a:ext cx="4242816" cy="2176272"/>
          </a:xfrm>
          <a:prstGeom prst="roundRect">
            <a:avLst>
              <a:gd name="adj" fmla="val 8000"/>
            </a:avLst>
          </a:prstGeom>
          <a:solidFill>
            <a:srgbClr val="E6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46304" y="5577839"/>
            <a:ext cx="4096511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8263"/>
                </a:solidFill>
                <a:latin typeface="Times New Roman"/>
              </a:rPr>
              <a:t>(c) ART: articulate, retrieve, test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" y="5907023"/>
            <a:ext cx="932688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F6B75"/>
                </a:solidFill>
                <a:latin typeface="Comic Sans MS"/>
              </a:rPr>
              <a:t>S1 Articulate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97280" y="5888735"/>
            <a:ext cx="3127248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52144" y="5897879"/>
            <a:ext cx="301752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B2B2B"/>
                </a:solidFill>
                <a:latin typeface="Comic Sans MS"/>
              </a:rPr>
              <a:t>denominator: both events at </a:t>
            </a:r>
            <a:r>
              <a:rPr sz="900" b="1" i="0">
                <a:solidFill>
                  <a:srgbClr val="2B2B2B"/>
                </a:solidFill>
                <a:latin typeface="Comic Sans MS"/>
              </a:rPr>
              <a:t>distinct</a:t>
            </a:r>
            <a:r>
              <a:rPr sz="900" b="0" i="0">
                <a:solidFill>
                  <a:srgbClr val="2B2B2B"/>
                </a:solidFill>
                <a:latin typeface="Comic Sans MS"/>
              </a:rPr>
              <a:t> stages; null p</a:t>
            </a:r>
            <a:r>
              <a:rPr sz="900" b="0" i="0" baseline="-25000">
                <a:solidFill>
                  <a:srgbClr val="2B2B2B"/>
                </a:solidFill>
                <a:latin typeface="Comic Sans MS"/>
              </a:rPr>
              <a:t>0</a:t>
            </a:r>
            <a:r>
              <a:rPr sz="900" b="0" i="0">
                <a:solidFill>
                  <a:srgbClr val="2B2B2B"/>
                </a:solidFill>
                <a:latin typeface="Comic Sans MS"/>
              </a:rPr>
              <a:t> = 0.5; one-sided exact binomial; n ≥ 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4592" y="6364223"/>
            <a:ext cx="932688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0522D"/>
                </a:solidFill>
                <a:latin typeface="Comic Sans MS"/>
              </a:rPr>
              <a:t>S2 Retrieve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97280" y="6345935"/>
            <a:ext cx="3127248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152144" y="6355079"/>
            <a:ext cx="301752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 i="0">
                <a:solidFill>
                  <a:srgbClr val="5E8263"/>
                </a:solidFill>
                <a:latin typeface="Courier New"/>
              </a:rPr>
              <a:t>in_denominator = Pain.stage ≠ Asthenia.stage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B2B2B"/>
                </a:solidFill>
                <a:latin typeface="Courier New"/>
              </a:rPr>
              <a:t>in_numerator   = Pain.stage &lt; Asthenia.stage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4592" y="6821423"/>
            <a:ext cx="932688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8812E"/>
                </a:solidFill>
                <a:latin typeface="Comic Sans MS"/>
              </a:rPr>
              <a:t>S3 Test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97280" y="6803135"/>
            <a:ext cx="3127248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152144" y="6812279"/>
            <a:ext cx="301752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B2B2B"/>
                </a:solidFill>
                <a:latin typeface="Comic Sans MS"/>
              </a:rPr>
              <a:t>n = 22, k = 18 (the gold sets);  P(X ≥ 18) = 0.0022  →  </a:t>
            </a:r>
            <a:r>
              <a:rPr sz="900" b="1" i="0">
                <a:solidFill>
                  <a:srgbClr val="2B2B2B"/>
                </a:solidFill>
                <a:latin typeface="Comic Sans MS"/>
              </a:rPr>
              <a:t>supported</a:t>
            </a:r>
          </a:p>
        </p:txBody>
      </p:sp>
      <p:pic>
        <p:nvPicPr>
          <p:cNvPr id="61" name="Picture 60" descr="circle-check_5E82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7296911"/>
            <a:ext cx="274320" cy="27432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93776" y="7278623"/>
            <a:ext cx="3767328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5E8263"/>
                </a:solidFill>
                <a:latin typeface="Comic Sans MS"/>
              </a:rPr>
              <a:t>Right verdict on the right evidence: </a:t>
            </a:r>
            <a:r>
              <a:rPr sz="950" b="0" i="0">
                <a:solidFill>
                  <a:srgbClr val="2B2B2B"/>
                </a:solidFill>
                <a:latin typeface="Comic Sans MS"/>
              </a:rPr>
              <a:t>every counted report matches the gold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