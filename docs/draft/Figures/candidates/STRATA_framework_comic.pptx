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36422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2743200"/>
          </a:xfrm>
          <a:prstGeom prst="roundRect">
            <a:avLst>
              <a:gd name="adj" fmla="val 3000"/>
            </a:avLst>
          </a:prstGeom>
          <a:solidFill>
            <a:srgbClr val="E7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237744" y="155448"/>
            <a:ext cx="420624" cy="420624"/>
          </a:xfrm>
          <a:prstGeom prst="ellipse">
            <a:avLst/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omic Sans M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"/>
            <a:ext cx="6400800" cy="4754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0522D"/>
                </a:solidFill>
                <a:latin typeface="Times New Roman"/>
              </a:rPr>
              <a:t>STRATA Benchmark Construction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" y="621792"/>
            <a:ext cx="283464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8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292608" y="694944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F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mic Sans MS"/>
              </a:rPr>
              <a:t>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658368"/>
            <a:ext cx="221284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2B2B"/>
                </a:solidFill>
                <a:latin typeface="Times New Roman"/>
              </a:rPr>
              <a:t>Clinical timelines</a:t>
            </a:r>
            <a:r>
              <a:rPr sz="900" b="0" i="0">
                <a:solidFill>
                  <a:srgbClr val="5F5F5F"/>
                </a:solidFill>
                <a:latin typeface="Comic Sans MS"/>
              </a:rPr>
              <a:t> (MedTempo)</a:t>
            </a:r>
          </a:p>
        </p:txBody>
      </p:sp>
      <p:pic>
        <p:nvPicPr>
          <p:cNvPr id="8" name="Picture 7" descr="clipboard-plus_A052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042416"/>
            <a:ext cx="420624" cy="420624"/>
          </a:xfrm>
          <a:prstGeom prst="rect">
            <a:avLst/>
          </a:prstGeom>
        </p:spPr>
      </p:pic>
      <p:pic>
        <p:nvPicPr>
          <p:cNvPr id="9" name="Picture 8" descr="file-text_4F6B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042416"/>
            <a:ext cx="420624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1517904"/>
            <a:ext cx="1280160" cy="10972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B2B2B"/>
                </a:solidFill>
                <a:latin typeface="Comic Sans MS"/>
              </a:rPr>
              <a:t>3,166 VAERS reports, three vaccines, each a leveled order of events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72768" y="1005840"/>
            <a:ext cx="1408176" cy="16459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609344" y="1033272"/>
            <a:ext cx="1353312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B2B2B"/>
                </a:solidFill>
                <a:latin typeface="Comic Sans MS"/>
              </a:rPr>
              <a:t>Example timeline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5F5F"/>
                </a:solidFill>
                <a:latin typeface="Comic Sans MS"/>
              </a:rPr>
              <a:t>report MT-0482913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00784" y="1609344"/>
            <a:ext cx="1152144" cy="0"/>
          </a:xfrm>
          <a:prstGeom prst="line">
            <a:avLst/>
          </a:prstGeom>
          <a:ln w="22225">
            <a:solidFill>
              <a:srgbClr val="4F6B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709928" y="1545336"/>
            <a:ext cx="128016" cy="128016"/>
          </a:xfrm>
          <a:prstGeom prst="ellipse">
            <a:avLst/>
          </a:prstGeom>
          <a:solidFill>
            <a:srgbClr val="4F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mic Sans M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682496"/>
            <a:ext cx="7315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4F6B75"/>
                </a:solidFill>
                <a:latin typeface="Comic Sans MS"/>
              </a:rPr>
              <a:t>Fever</a:t>
            </a:r>
          </a:p>
        </p:txBody>
      </p:sp>
      <p:sp>
        <p:nvSpPr>
          <p:cNvPr id="16" name="Oval 15"/>
          <p:cNvSpPr/>
          <p:nvPr/>
        </p:nvSpPr>
        <p:spPr>
          <a:xfrm>
            <a:off x="2212848" y="1545336"/>
            <a:ext cx="128016" cy="128016"/>
          </a:xfrm>
          <a:prstGeom prst="ellipse">
            <a:avLst/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mic Sans M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11096" y="1682496"/>
            <a:ext cx="7315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A0522D"/>
                </a:solidFill>
                <a:latin typeface="Comic Sans MS"/>
              </a:rPr>
              <a:t>Headache</a:t>
            </a:r>
          </a:p>
        </p:txBody>
      </p:sp>
      <p:sp>
        <p:nvSpPr>
          <p:cNvPr id="18" name="Oval 17"/>
          <p:cNvSpPr/>
          <p:nvPr/>
        </p:nvSpPr>
        <p:spPr>
          <a:xfrm>
            <a:off x="2715768" y="1545336"/>
            <a:ext cx="128016" cy="128016"/>
          </a:xfrm>
          <a:prstGeom prst="ellipse">
            <a:avLst/>
          </a:prstGeom>
          <a:solidFill>
            <a:srgbClr val="A88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mic Sans M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14016" y="1682496"/>
            <a:ext cx="7315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A8812E"/>
                </a:solidFill>
                <a:latin typeface="Comic Sans MS"/>
              </a:rPr>
              <a:t>Fatigue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9344" y="1901952"/>
            <a:ext cx="1353312" cy="7315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F5F5F"/>
                </a:solidFill>
                <a:latin typeface="Comic Sans MS"/>
              </a:rPr>
              <a:t>stage → events; the first mention fixes the stage; events at one stage co-exist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90672" y="1627632"/>
            <a:ext cx="219456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346704" y="621792"/>
            <a:ext cx="283464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8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3419856" y="694944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F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mic Sans MS"/>
              </a:rPr>
              <a:t>1.2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13632" y="658368"/>
            <a:ext cx="221284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2B2B"/>
                </a:solidFill>
                <a:latin typeface="Times New Roman"/>
              </a:rPr>
              <a:t>Hypothesis templates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419856" y="1005840"/>
          <a:ext cx="2688336" cy="16276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112"/>
                <a:gridCol w="1792224"/>
              </a:tblGrid>
              <a:tr h="23251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B2B2B"/>
                          </a:solidFill>
                          <a:latin typeface="Comic Sans MS"/>
                        </a:rPr>
                        <a:t>Precedes</a:t>
                      </a:r>
                    </a:p>
                  </a:txBody>
                  <a:tcPr marL="36576" marR="36576" marT="0" marB="0" anchor="ctr">
                    <a:solidFill>
                      <a:srgbClr val="E3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B2B2B"/>
                          </a:solidFill>
                          <a:latin typeface="Comic Sans MS"/>
                        </a:rPr>
                        <a:t>A tends to precede B</a:t>
                      </a:r>
                    </a:p>
                  </a:txBody>
                  <a:tcPr marL="36576" marR="36576" marT="0" marB="0" anchor="ctr">
                    <a:solidFill>
                      <a:srgbClr val="FFFFFF"/>
                    </a:solidFill>
                  </a:tcPr>
                </a:tc>
              </a:tr>
              <a:tr h="23251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B2B2B"/>
                          </a:solidFill>
                          <a:latin typeface="Comic Sans MS"/>
                        </a:rPr>
                        <a:t>Co-occurs</a:t>
                      </a:r>
                    </a:p>
                  </a:txBody>
                  <a:tcPr marL="36576" marR="36576" marT="0" marB="0" anchor="ctr">
                    <a:solidFill>
                      <a:srgbClr val="F3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B2B2B"/>
                          </a:solidFill>
                          <a:latin typeface="Comic Sans MS"/>
                        </a:rPr>
                        <a:t>A and B tend to co-occur</a:t>
                      </a:r>
                    </a:p>
                  </a:txBody>
                  <a:tcPr marL="36576" marR="36576" marT="0" marB="0" anchor="ctr">
                    <a:solidFill>
                      <a:srgbClr val="FFFFFF"/>
                    </a:solidFill>
                  </a:tcPr>
                </a:tc>
              </a:tr>
              <a:tr h="23251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B2B2B"/>
                          </a:solidFill>
                          <a:latin typeface="Comic Sans MS"/>
                        </a:rPr>
                        <a:t>Sequence</a:t>
                      </a:r>
                    </a:p>
                  </a:txBody>
                  <a:tcPr marL="36576" marR="36576" marT="0" marB="0" anchor="ctr">
                    <a:solidFill>
                      <a:srgbClr val="F1E2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B2B2B"/>
                          </a:solidFill>
                          <a:latin typeface="Comic Sans MS"/>
                        </a:rPr>
                        <a:t>A, then B, then C</a:t>
                      </a:r>
                    </a:p>
                  </a:txBody>
                  <a:tcPr marL="36576" marR="36576" marT="0" marB="0" anchor="ctr">
                    <a:solidFill>
                      <a:srgbClr val="FFFFFF"/>
                    </a:solidFill>
                  </a:tcPr>
                </a:tc>
              </a:tr>
              <a:tr h="23251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B2B2B"/>
                          </a:solidFill>
                          <a:latin typeface="Comic Sans MS"/>
                        </a:rPr>
                        <a:t>First / Last</a:t>
                      </a:r>
                    </a:p>
                  </a:txBody>
                  <a:tcPr marL="36576" marR="36576" marT="0" marB="0" anchor="ctr">
                    <a:solidFill>
                      <a:srgbClr val="E3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B2B2B"/>
                          </a:solidFill>
                          <a:latin typeface="Comic Sans MS"/>
                        </a:rPr>
                        <a:t>A is most often first (last)</a:t>
                      </a:r>
                    </a:p>
                  </a:txBody>
                  <a:tcPr marL="36576" marR="36576" marT="0" marB="0" anchor="ctr">
                    <a:solidFill>
                      <a:srgbClr val="FFFFFF"/>
                    </a:solidFill>
                  </a:tcPr>
                </a:tc>
              </a:tr>
              <a:tr h="23251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B2B2B"/>
                          </a:solidFill>
                          <a:latin typeface="Comic Sans MS"/>
                        </a:rPr>
                        <a:t>Position</a:t>
                      </a:r>
                    </a:p>
                  </a:txBody>
                  <a:tcPr marL="36576" marR="36576" marT="0" marB="0" anchor="ctr">
                    <a:solidFill>
                      <a:srgbClr val="F3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B2B2B"/>
                          </a:solidFill>
                          <a:latin typeface="Comic Sans MS"/>
                        </a:rPr>
                        <a:t>A falls in the earlier half</a:t>
                      </a:r>
                    </a:p>
                  </a:txBody>
                  <a:tcPr marL="36576" marR="36576" marT="0" marB="0" anchor="ctr">
                    <a:solidFill>
                      <a:srgbClr val="FFFFFF"/>
                    </a:solidFill>
                  </a:tcPr>
                </a:tc>
              </a:tr>
              <a:tr h="23251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B2B2B"/>
                          </a:solidFill>
                          <a:latin typeface="Comic Sans MS"/>
                        </a:rPr>
                        <a:t>Proximity</a:t>
                      </a:r>
                    </a:p>
                  </a:txBody>
                  <a:tcPr marL="36576" marR="36576" marT="0" marB="0" anchor="ctr">
                    <a:solidFill>
                      <a:srgbClr val="F1E2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B2B2B"/>
                          </a:solidFill>
                          <a:latin typeface="Comic Sans MS"/>
                        </a:rPr>
                        <a:t>A occurs right before B</a:t>
                      </a:r>
                    </a:p>
                  </a:txBody>
                  <a:tcPr marL="36576" marR="36576" marT="0" marB="0" anchor="ctr">
                    <a:solidFill>
                      <a:srgbClr val="FFFFFF"/>
                    </a:solidFill>
                  </a:tcPr>
                </a:tc>
              </a:tr>
              <a:tr h="23251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B2B2B"/>
                          </a:solidFill>
                          <a:latin typeface="Comic Sans MS"/>
                        </a:rPr>
                        <a:t>Threshold</a:t>
                      </a:r>
                    </a:p>
                  </a:txBody>
                  <a:tcPr marL="36576" marR="36576" marT="0" marB="0" anchor="ctr">
                    <a:solidFill>
                      <a:srgbClr val="E3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B2B2B"/>
                          </a:solidFill>
                          <a:latin typeface="Comic Sans MS"/>
                        </a:rPr>
                        <a:t>A precedes B in ≥ 2/3</a:t>
                      </a:r>
                    </a:p>
                  </a:txBody>
                  <a:tcPr marL="36576" marR="36576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6" name="Connector 25"/>
          <p:cNvCxnSpPr/>
          <p:nvPr/>
        </p:nvCxnSpPr>
        <p:spPr>
          <a:xfrm>
            <a:off x="6217920" y="1627632"/>
            <a:ext cx="219456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473952" y="621792"/>
            <a:ext cx="274320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8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6547104" y="694944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F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mic Sans MS"/>
              </a:rPr>
              <a:t>1.3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658368"/>
            <a:ext cx="212140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2B2B"/>
                </a:solidFill>
                <a:latin typeface="Times New Roman"/>
              </a:rPr>
              <a:t>Groups, families, levels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47104" y="1005840"/>
            <a:ext cx="2596896" cy="493776"/>
          </a:xfrm>
          <a:prstGeom prst="roundRect">
            <a:avLst>
              <a:gd name="adj" fmla="val 10000"/>
            </a:avLst>
          </a:prstGeom>
          <a:solidFill>
            <a:srgbClr val="E3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brain_4F6B7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1088136"/>
            <a:ext cx="329184" cy="32918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967728" y="1024128"/>
            <a:ext cx="2157984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2B2B2B"/>
                </a:solidFill>
                <a:latin typeface="Comic Sans MS"/>
              </a:rPr>
              <a:t>26 groups</a:t>
            </a:r>
          </a:p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5F5F5F"/>
                </a:solidFill>
                <a:latin typeface="Comic Sans MS"/>
              </a:rPr>
              <a:t>9 report, 16 cohort, 1 two-cohort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47104" y="1554480"/>
            <a:ext cx="2596896" cy="603504"/>
          </a:xfrm>
          <a:prstGeom prst="roundRect">
            <a:avLst>
              <a:gd name="adj" fmla="val 10000"/>
            </a:avLst>
          </a:prstGeom>
          <a:solidFill>
            <a:srgbClr val="F3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network_4F6B7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1691640"/>
            <a:ext cx="329184" cy="32918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967728" y="1572768"/>
            <a:ext cx="2157984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2B2B2B"/>
                </a:solidFill>
                <a:latin typeface="Comic Sans MS"/>
              </a:rPr>
              <a:t>7 claim families</a:t>
            </a:r>
          </a:p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5F5F5F"/>
                </a:solidFill>
                <a:latin typeface="Comic Sans MS"/>
              </a:rPr>
              <a:t>precedes, co-occurs, sequence, first/last, position, proximity, threshold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47104" y="2212848"/>
            <a:ext cx="2596896" cy="457200"/>
          </a:xfrm>
          <a:prstGeom prst="roundRect">
            <a:avLst>
              <a:gd name="adj" fmla="val 10000"/>
            </a:avLst>
          </a:prstGeom>
          <a:solidFill>
            <a:srgbClr val="F1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chart-no-axes-column_A0522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2276856"/>
            <a:ext cx="329184" cy="32918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967728" y="2231136"/>
            <a:ext cx="2157984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2B2B2B"/>
                </a:solidFill>
                <a:latin typeface="Comic Sans MS"/>
              </a:rPr>
              <a:t>3 difficulty levels</a:t>
            </a:r>
          </a:p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5F5F5F"/>
                </a:solidFill>
                <a:latin typeface="Comic Sans MS"/>
              </a:rPr>
              <a:t>Easy one report; Medium one cohort; Hard two cohorts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253728" y="1627632"/>
            <a:ext cx="219456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509760" y="621792"/>
            <a:ext cx="2459736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8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9582912" y="694944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F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mic Sans MS"/>
              </a:rPr>
              <a:t>1.4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76688" y="658368"/>
            <a:ext cx="1837943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2B2B"/>
                </a:solidFill>
                <a:latin typeface="Times New Roman"/>
              </a:rPr>
              <a:t>Gold at every stage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82912" y="1005840"/>
            <a:ext cx="2313432" cy="566928"/>
          </a:xfrm>
          <a:prstGeom prst="roundRect">
            <a:avLst>
              <a:gd name="adj" fmla="val 10000"/>
            </a:avLst>
          </a:prstGeom>
          <a:solidFill>
            <a:srgbClr val="F3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4" name="Picture 43" descr="file-check_A8812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7776" y="1133856"/>
            <a:ext cx="310896" cy="31089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985248" y="1024128"/>
            <a:ext cx="1901952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2B2B2B"/>
                </a:solidFill>
                <a:latin typeface="Comic Sans MS"/>
              </a:rPr>
              <a:t>Plan</a:t>
            </a:r>
          </a:p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5F5F5F"/>
                </a:solidFill>
                <a:latin typeface="Comic Sans MS"/>
              </a:rPr>
              <a:t>events, quantity, denominator primitive, arms, null, p0, tail, test, floor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82912" y="1627632"/>
            <a:ext cx="2313432" cy="475488"/>
          </a:xfrm>
          <a:prstGeom prst="roundRect">
            <a:avLst>
              <a:gd name="adj" fmla="val 10000"/>
            </a:avLst>
          </a:prstGeom>
          <a:solidFill>
            <a:srgbClr val="F3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7" name="Picture 46" descr="database_A8812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7776" y="1709928"/>
            <a:ext cx="310896" cy="31089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985248" y="1645920"/>
            <a:ext cx="1901952" cy="43891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2B2B2B"/>
                </a:solidFill>
                <a:latin typeface="Comic Sans MS"/>
              </a:rPr>
              <a:t>Evidence sets</a:t>
            </a:r>
          </a:p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5F5F5F"/>
                </a:solidFill>
                <a:latin typeface="Comic Sans MS"/>
              </a:rPr>
              <a:t>denominator, numerator and excluded ids; n, k per arm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82912" y="2157984"/>
            <a:ext cx="2313432" cy="512064"/>
          </a:xfrm>
          <a:prstGeom prst="roundRect">
            <a:avLst>
              <a:gd name="adj" fmla="val 10000"/>
            </a:avLst>
          </a:prstGeom>
          <a:solidFill>
            <a:srgbClr val="F3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0" name="Picture 49" descr="chart-bar_A8812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2258568"/>
            <a:ext cx="310896" cy="31089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985248" y="2176272"/>
            <a:ext cx="1901952" cy="4754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2B2B2B"/>
                </a:solidFill>
                <a:latin typeface="Comic Sans MS"/>
              </a:rPr>
              <a:t>Statistics, verdict</a:t>
            </a:r>
          </a:p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5F5F5F"/>
                </a:solidFill>
                <a:latin typeface="Comic Sans MS"/>
              </a:rPr>
              <a:t>p on both tails, Wilson CI, Cohen's h; three-way verdict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440" y="2907792"/>
            <a:ext cx="12008815" cy="3438143"/>
          </a:xfrm>
          <a:prstGeom prst="roundRect">
            <a:avLst>
              <a:gd name="adj" fmla="val 3000"/>
            </a:avLst>
          </a:prstGeom>
          <a:solidFill>
            <a:srgbClr val="F1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237744" y="2971800"/>
            <a:ext cx="420624" cy="420624"/>
          </a:xfrm>
          <a:prstGeom prst="ellipse">
            <a:avLst/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omic Sans MS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2944368"/>
            <a:ext cx="6400800" cy="4754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0522D"/>
                </a:solidFill>
                <a:latin typeface="Times New Roman"/>
              </a:rPr>
              <a:t>ART Verification Pipeline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19456" y="3438144"/>
            <a:ext cx="2212848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8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274320" y="3483864"/>
            <a:ext cx="21031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2B2B"/>
                </a:solidFill>
                <a:latin typeface="Times New Roman"/>
              </a:rPr>
              <a:t>Inputs</a:t>
            </a:r>
          </a:p>
        </p:txBody>
      </p:sp>
      <p:pic>
        <p:nvPicPr>
          <p:cNvPr id="57" name="Picture 56" descr="file-text_4F6B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3803904"/>
            <a:ext cx="329184" cy="32918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76656" y="3767328"/>
            <a:ext cx="173736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2B2B2B"/>
                </a:solidFill>
                <a:latin typeface="Comic Sans MS"/>
              </a:rPr>
              <a:t>a claim in natural language, with its cohort and level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4320" y="4261104"/>
            <a:ext cx="21031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2B2B"/>
                </a:solidFill>
                <a:latin typeface="Times New Roman"/>
              </a:rPr>
              <a:t>Resources (to S1)</a:t>
            </a:r>
          </a:p>
        </p:txBody>
      </p:sp>
      <p:pic>
        <p:nvPicPr>
          <p:cNvPr id="60" name="Picture 59" descr="list-checks_4F6B7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2608" y="4590288"/>
            <a:ext cx="329184" cy="32918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76656" y="4535424"/>
            <a:ext cx="1737360" cy="5486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2B2B2B"/>
                </a:solidFill>
                <a:latin typeface="Comic Sans MS"/>
              </a:rPr>
              <a:t>codebook: the corpus stipulations as text; null sources; test definitions</a:t>
            </a:r>
          </a:p>
        </p:txBody>
      </p:sp>
      <p:pic>
        <p:nvPicPr>
          <p:cNvPr id="62" name="Picture 61" descr="database_4F6B75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2608" y="5102352"/>
            <a:ext cx="329184" cy="329184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76656" y="5047488"/>
            <a:ext cx="1737360" cy="47548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2B2B2B"/>
                </a:solidFill>
                <a:latin typeface="Comic Sans MS"/>
              </a:rPr>
              <a:t>timeline DB: report, vaccine, term, first-mention stage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2450592" y="3941064"/>
            <a:ext cx="219456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450592" y="4764024"/>
            <a:ext cx="219456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2706624" y="3438144"/>
            <a:ext cx="4443984" cy="2103120"/>
          </a:xfrm>
          <a:prstGeom prst="roundRect">
            <a:avLst>
              <a:gd name="adj" fmla="val 5000"/>
            </a:avLst>
          </a:prstGeom>
          <a:solidFill>
            <a:srgbClr val="E3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2779776" y="3502152"/>
            <a:ext cx="493776" cy="493776"/>
          </a:xfrm>
          <a:prstGeom prst="ellipse">
            <a:avLst/>
          </a:prstGeom>
          <a:solidFill>
            <a:srgbClr val="4F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mic Sans MS"/>
              </a:rPr>
              <a:t>S1</a:t>
            </a:r>
          </a:p>
          <a:p>
            <a:pPr algn="ctr"/>
            <a:r>
              <a:rPr sz="650">
                <a:solidFill>
                  <a:srgbClr val="FFFFFF"/>
                </a:solidFill>
                <a:latin typeface="Comic Sans MS"/>
              </a:rPr>
              <a:t>LLM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28416" y="3474720"/>
            <a:ext cx="3794760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 i="0">
                <a:solidFill>
                  <a:srgbClr val="4F6B75"/>
                </a:solidFill>
                <a:latin typeface="Times New Roman"/>
              </a:rPr>
              <a:t>Articulate</a:t>
            </a:r>
          </a:p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5F5F5F"/>
                </a:solidFill>
                <a:latin typeface="Comic Sans MS"/>
              </a:rPr>
              <a:t>form a structured plan; the claim-type mapping is withheld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779776" y="4059936"/>
            <a:ext cx="1033271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Oval 69"/>
          <p:cNvSpPr/>
          <p:nvPr/>
        </p:nvSpPr>
        <p:spPr>
          <a:xfrm>
            <a:off x="2834640" y="4114800"/>
            <a:ext cx="237744" cy="237744"/>
          </a:xfrm>
          <a:prstGeom prst="ellipse">
            <a:avLst/>
          </a:prstGeom>
          <a:solidFill>
            <a:srgbClr val="4F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mic Sans MS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90672" y="4078224"/>
            <a:ext cx="713232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1000" b="1" i="0">
                <a:solidFill>
                  <a:srgbClr val="2B2B2B"/>
                </a:solidFill>
                <a:latin typeface="Comic Sans MS"/>
              </a:rPr>
              <a:t>Parse the claim</a:t>
            </a:r>
          </a:p>
        </p:txBody>
      </p:sp>
      <p:pic>
        <p:nvPicPr>
          <p:cNvPr id="72" name="Picture 71" descr="file-search_4F6B7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43784" y="4572000"/>
            <a:ext cx="274320" cy="27432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3136392" y="4517136"/>
            <a:ext cx="676656" cy="5486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2B2B2B"/>
                </a:solidFill>
                <a:latin typeface="Comic Sans MS"/>
              </a:rPr>
              <a:t>events, cohort, quantity, direction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3813048" y="4562856"/>
            <a:ext cx="50291" cy="0"/>
          </a:xfrm>
          <a:prstGeom prst="line">
            <a:avLst/>
          </a:prstGeom>
          <a:ln w="15875">
            <a:solidFill>
              <a:srgbClr val="5F5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3863339" y="4059936"/>
            <a:ext cx="1033271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3918203" y="4114800"/>
            <a:ext cx="237744" cy="237744"/>
          </a:xfrm>
          <a:prstGeom prst="ellipse">
            <a:avLst/>
          </a:prstGeom>
          <a:solidFill>
            <a:srgbClr val="4F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mic Sans MS"/>
              </a:rPr>
              <a:t>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74235" y="4078224"/>
            <a:ext cx="713232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1000" b="1" i="0">
                <a:solidFill>
                  <a:srgbClr val="2B2B2B"/>
                </a:solidFill>
                <a:latin typeface="Comic Sans MS"/>
              </a:rPr>
              <a:t>Choose the primitive</a:t>
            </a:r>
          </a:p>
        </p:txBody>
      </p:sp>
      <p:pic>
        <p:nvPicPr>
          <p:cNvPr id="78" name="Picture 77" descr="git-branch_4F6B75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27348" y="4572000"/>
            <a:ext cx="274320" cy="27432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4219955" y="4517136"/>
            <a:ext cx="676656" cy="5486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2B2B2B"/>
                </a:solidFill>
                <a:latin typeface="Comic Sans MS"/>
              </a:rPr>
              <a:t>denominator rule; arms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4896612" y="4562856"/>
            <a:ext cx="50292" cy="0"/>
          </a:xfrm>
          <a:prstGeom prst="line">
            <a:avLst/>
          </a:prstGeom>
          <a:ln w="15875">
            <a:solidFill>
              <a:srgbClr val="5F5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4946904" y="4059936"/>
            <a:ext cx="1033271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5001768" y="4114800"/>
            <a:ext cx="237744" cy="237744"/>
          </a:xfrm>
          <a:prstGeom prst="ellipse">
            <a:avLst/>
          </a:prstGeom>
          <a:solidFill>
            <a:srgbClr val="4F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mic Sans MS"/>
              </a:rP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57800" y="4078224"/>
            <a:ext cx="713232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1000" b="1" i="0">
                <a:solidFill>
                  <a:srgbClr val="2B2B2B"/>
                </a:solidFill>
                <a:latin typeface="Comic Sans MS"/>
              </a:rPr>
              <a:t>Compose the plan</a:t>
            </a:r>
          </a:p>
        </p:txBody>
      </p:sp>
      <p:pic>
        <p:nvPicPr>
          <p:cNvPr id="84" name="Picture 83" descr="sigma_4F6B75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10912" y="4572000"/>
            <a:ext cx="274320" cy="27432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303520" y="4517136"/>
            <a:ext cx="676656" cy="5486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2B2B2B"/>
                </a:solidFill>
                <a:latin typeface="Comic Sans MS"/>
              </a:rPr>
              <a:t>null, p0, tail, test family, floor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5980176" y="4562856"/>
            <a:ext cx="50292" cy="0"/>
          </a:xfrm>
          <a:prstGeom prst="line">
            <a:avLst/>
          </a:prstGeom>
          <a:ln w="15875">
            <a:solidFill>
              <a:srgbClr val="5F5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6030468" y="4059936"/>
            <a:ext cx="1033271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Oval 87"/>
          <p:cNvSpPr/>
          <p:nvPr/>
        </p:nvSpPr>
        <p:spPr>
          <a:xfrm>
            <a:off x="6085332" y="4114800"/>
            <a:ext cx="237744" cy="237744"/>
          </a:xfrm>
          <a:prstGeom prst="ellipse">
            <a:avLst/>
          </a:prstGeom>
          <a:solidFill>
            <a:srgbClr val="4F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mic Sans MS"/>
              </a:rP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41364" y="4078224"/>
            <a:ext cx="713232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1000" b="1" i="0">
                <a:solidFill>
                  <a:srgbClr val="2B2B2B"/>
                </a:solidFill>
                <a:latin typeface="Comic Sans MS"/>
              </a:rPr>
              <a:t>Verify, 1 round</a:t>
            </a:r>
          </a:p>
        </p:txBody>
      </p:sp>
      <p:pic>
        <p:nvPicPr>
          <p:cNvPr id="90" name="Picture 89" descr="timer-reset_4F6B75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4476" y="4572000"/>
            <a:ext cx="274320" cy="274320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6387084" y="4517136"/>
            <a:ext cx="676656" cy="5486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2B2B2B"/>
                </a:solidFill>
                <a:latin typeface="Comic Sans MS"/>
              </a:rPr>
              <a:t>plan vs the codebook; re-ask once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779776" y="5120640"/>
            <a:ext cx="4297680" cy="365760"/>
          </a:xfrm>
          <a:prstGeom prst="roundRect">
            <a:avLst>
              <a:gd name="adj" fmla="val 10000"/>
            </a:avLst>
          </a:prstGeom>
          <a:solidFill>
            <a:srgbClr val="F1E2DA"/>
          </a:solidFill>
          <a:ln w="12700">
            <a:solidFill>
              <a:srgbClr val="A05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2834640" y="5120640"/>
            <a:ext cx="4206240" cy="365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 i="0">
                <a:solidFill>
                  <a:srgbClr val="A0522D"/>
                </a:solidFill>
                <a:latin typeface="Comic Sans MS"/>
              </a:rPr>
              <a:t>Contract: </a:t>
            </a:r>
            <a:r>
              <a:rPr sz="900" b="0" i="0">
                <a:solidFill>
                  <a:srgbClr val="2B2B2B"/>
                </a:solidFill>
                <a:latin typeface="Comic Sans MS"/>
              </a:rPr>
              <a:t>the harness resolves the plan's primitive into its exact rule and states it to S2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7168896" y="4489704"/>
            <a:ext cx="219456" cy="0"/>
          </a:xfrm>
          <a:prstGeom prst="line">
            <a:avLst/>
          </a:prstGeom>
          <a:ln w="28575">
            <a:solidFill>
              <a:srgbClr val="A0522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94"/>
          <p:cNvSpPr/>
          <p:nvPr/>
        </p:nvSpPr>
        <p:spPr>
          <a:xfrm>
            <a:off x="7424927" y="3438144"/>
            <a:ext cx="2523744" cy="2103120"/>
          </a:xfrm>
          <a:prstGeom prst="roundRect">
            <a:avLst>
              <a:gd name="adj" fmla="val 5000"/>
            </a:avLst>
          </a:prstGeom>
          <a:solidFill>
            <a:srgbClr val="F3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Oval 95"/>
          <p:cNvSpPr/>
          <p:nvPr/>
        </p:nvSpPr>
        <p:spPr>
          <a:xfrm>
            <a:off x="7498079" y="3502152"/>
            <a:ext cx="493776" cy="493776"/>
          </a:xfrm>
          <a:prstGeom prst="ellipse">
            <a:avLst/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mic Sans MS"/>
              </a:rPr>
              <a:t>S2</a:t>
            </a:r>
          </a:p>
          <a:p>
            <a:pPr algn="ctr"/>
            <a:r>
              <a:rPr sz="650">
                <a:solidFill>
                  <a:srgbClr val="FFFFFF"/>
                </a:solidFill>
                <a:latin typeface="Comic Sans MS"/>
              </a:rPr>
              <a:t>LLM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046720" y="3474720"/>
            <a:ext cx="1874519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A0522D"/>
                </a:solidFill>
                <a:latin typeface="Times New Roman"/>
              </a:rPr>
              <a:t>Retrieve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F5F5F"/>
                </a:solidFill>
                <a:latin typeface="Comic Sans MS"/>
              </a:rPr>
              <a:t>plan to evidence sets</a:t>
            </a:r>
          </a:p>
        </p:txBody>
      </p:sp>
      <p:pic>
        <p:nvPicPr>
          <p:cNvPr id="98" name="Picture 97" descr="code_A0522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98079" y="4096512"/>
            <a:ext cx="292608" cy="292608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7845552" y="4059936"/>
            <a:ext cx="2084831" cy="5120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2B2B2B"/>
                </a:solidFill>
                <a:latin typeface="Comic Sans MS"/>
              </a:rPr>
              <a:t>told the schema and the contract; one SQL per arm, one row per report</a:t>
            </a:r>
          </a:p>
        </p:txBody>
      </p:sp>
      <p:pic>
        <p:nvPicPr>
          <p:cNvPr id="100" name="Picture 99" descr="table-2_A0522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98079" y="4590288"/>
            <a:ext cx="292608" cy="292608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7845552" y="4553712"/>
            <a:ext cx="2084831" cy="5120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2B2B2B"/>
                </a:solidFill>
                <a:latin typeface="Comic Sans MS"/>
              </a:rPr>
              <a:t>sandbox: read-only execution → n, k and report ids per arm</a:t>
            </a:r>
          </a:p>
        </p:txBody>
      </p:sp>
      <p:pic>
        <p:nvPicPr>
          <p:cNvPr id="102" name="Picture 101" descr="timer-reset_A0522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98079" y="5065776"/>
            <a:ext cx="292608" cy="292608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7845552" y="5029200"/>
            <a:ext cx="2084831" cy="5120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2B2B2B"/>
                </a:solidFill>
                <a:latin typeface="Comic Sans MS"/>
              </a:rPr>
              <a:t>verify, up to 2 rounds: rejected SQL, n = k, empty arm, rule leaks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9966960" y="4489704"/>
            <a:ext cx="219456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/>
          <p:cNvSpPr/>
          <p:nvPr/>
        </p:nvSpPr>
        <p:spPr>
          <a:xfrm>
            <a:off x="10222992" y="3438144"/>
            <a:ext cx="1746504" cy="2103120"/>
          </a:xfrm>
          <a:prstGeom prst="roundRect">
            <a:avLst>
              <a:gd name="adj" fmla="val 5000"/>
            </a:avLst>
          </a:prstGeom>
          <a:solidFill>
            <a:srgbClr val="E3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Oval 105"/>
          <p:cNvSpPr/>
          <p:nvPr/>
        </p:nvSpPr>
        <p:spPr>
          <a:xfrm>
            <a:off x="10296144" y="3502152"/>
            <a:ext cx="493776" cy="493776"/>
          </a:xfrm>
          <a:prstGeom prst="ellipse">
            <a:avLst/>
          </a:prstGeom>
          <a:solidFill>
            <a:srgbClr val="A88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mic Sans MS"/>
              </a:rPr>
              <a:t>S3</a:t>
            </a:r>
          </a:p>
          <a:p>
            <a:pPr algn="ctr"/>
            <a:r>
              <a:rPr sz="650">
                <a:solidFill>
                  <a:srgbClr val="FFFFFF"/>
                </a:solidFill>
                <a:latin typeface="Comic Sans MS"/>
              </a:rPr>
              <a:t>function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844784" y="3474720"/>
            <a:ext cx="1106424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 i="0">
                <a:solidFill>
                  <a:srgbClr val="A8812E"/>
                </a:solidFill>
                <a:latin typeface="Times New Roman"/>
              </a:rPr>
              <a:t>Test</a:t>
            </a:r>
          </a:p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5F5F5F"/>
                </a:solidFill>
                <a:latin typeface="Comic Sans MS"/>
              </a:rPr>
              <a:t>exact, deterministic</a:t>
            </a:r>
          </a:p>
        </p:txBody>
      </p:sp>
      <p:pic>
        <p:nvPicPr>
          <p:cNvPr id="108" name="Picture 107" descr="settings_A8812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296144" y="4096512"/>
            <a:ext cx="292608" cy="292608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10625328" y="4041648"/>
            <a:ext cx="1325880" cy="8229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2B2B2B"/>
                </a:solidFill>
                <a:latin typeface="Comic Sans MS"/>
              </a:rPr>
              <a:t>exact binomial vs p0; Fisher's test, two arms; modal-vs-runner-up, argmax; floor n ≥ 10</a:t>
            </a:r>
          </a:p>
        </p:txBody>
      </p:sp>
      <p:pic>
        <p:nvPicPr>
          <p:cNvPr id="110" name="Picture 109" descr="circle-check_4F6B75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96144" y="4864608"/>
            <a:ext cx="201168" cy="201168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10533888" y="4837176"/>
            <a:ext cx="1371600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B2B2B"/>
                </a:solidFill>
                <a:latin typeface="Comic Sans MS"/>
              </a:rPr>
              <a:t>Supported</a:t>
            </a:r>
          </a:p>
        </p:txBody>
      </p:sp>
      <p:pic>
        <p:nvPicPr>
          <p:cNvPr id="112" name="Picture 111" descr="circle-x_A0522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96144" y="5084064"/>
            <a:ext cx="201168" cy="201168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10533888" y="5056632"/>
            <a:ext cx="1371600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B2B2B"/>
                </a:solidFill>
                <a:latin typeface="Comic Sans MS"/>
              </a:rPr>
              <a:t>Refuted</a:t>
            </a:r>
          </a:p>
        </p:txBody>
      </p:sp>
      <p:pic>
        <p:nvPicPr>
          <p:cNvPr id="114" name="Picture 113" descr="circle-help_A8812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96144" y="5303520"/>
            <a:ext cx="201168" cy="201168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10533888" y="5276088"/>
            <a:ext cx="1371600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B2B2B"/>
                </a:solidFill>
                <a:latin typeface="Comic Sans MS"/>
              </a:rPr>
              <a:t>Insufficient</a:t>
            </a:r>
          </a:p>
        </p:txBody>
      </p:sp>
      <p:sp>
        <p:nvSpPr>
          <p:cNvPr id="116" name="Oval 115"/>
          <p:cNvSpPr/>
          <p:nvPr/>
        </p:nvSpPr>
        <p:spPr>
          <a:xfrm>
            <a:off x="237744" y="5705856"/>
            <a:ext cx="420624" cy="420624"/>
          </a:xfrm>
          <a:prstGeom prst="ellipse">
            <a:avLst/>
          </a:prstGeom>
          <a:solidFill>
            <a:srgbClr val="4F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omic Sans MS"/>
              </a:rP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31520" y="5650992"/>
            <a:ext cx="173736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F6B75"/>
                </a:solidFill>
                <a:latin typeface="Times New Roman"/>
              </a:rPr>
              <a:t>Evaluation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31520" y="5907024"/>
            <a:ext cx="1700784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900" b="0" i="0">
                <a:solidFill>
                  <a:srgbClr val="5F5F5F"/>
                </a:solidFill>
                <a:latin typeface="Comic Sans MS"/>
              </a:rPr>
              <a:t>per stage; any stage can be set to gold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2706624" y="5632704"/>
            <a:ext cx="4443984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8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0" name="Picture 119" descr="file-check_4F6B75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779776" y="5779008"/>
            <a:ext cx="329184" cy="329184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3163824" y="5641848"/>
            <a:ext cx="3950208" cy="6035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1100" b="1" i="0">
                <a:solidFill>
                  <a:srgbClr val="4F6B75"/>
                </a:solidFill>
                <a:latin typeface="Comic Sans MS"/>
              </a:rPr>
              <a:t>Plan correctness</a:t>
            </a:r>
          </a:p>
          <a:p>
            <a:pPr algn="l">
              <a:lnSpc>
                <a:spcPct val="92000"/>
              </a:lnSpc>
            </a:pPr>
            <a:r>
              <a:rPr sz="900" b="0" i="0">
                <a:solidFill>
                  <a:srgbClr val="5F5F5F"/>
                </a:solidFill>
                <a:latin typeface="Comic Sans MS"/>
              </a:rPr>
              <a:t>plan EM, claim-type EM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424927" y="5632704"/>
            <a:ext cx="2523744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8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3" name="Picture 122" descr="database_A0522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98079" y="5779008"/>
            <a:ext cx="329184" cy="329184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7882127" y="5641848"/>
            <a:ext cx="2029967" cy="6035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1100" b="1" i="0">
                <a:solidFill>
                  <a:srgbClr val="A0522D"/>
                </a:solidFill>
                <a:latin typeface="Comic Sans MS"/>
              </a:rPr>
              <a:t>Evidence correctness</a:t>
            </a:r>
          </a:p>
          <a:p>
            <a:pPr algn="l">
              <a:lnSpc>
                <a:spcPct val="92000"/>
              </a:lnSpc>
            </a:pPr>
            <a:r>
              <a:rPr sz="900" b="0" i="0">
                <a:solidFill>
                  <a:srgbClr val="5F5F5F"/>
                </a:solidFill>
                <a:latin typeface="Comic Sans MS"/>
              </a:rPr>
              <a:t>evidence F1, co-exist / tie leak, faithfulness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0222992" y="5632704"/>
            <a:ext cx="1746504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8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6" name="Picture 125" descr="scale_A8812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296144" y="5779008"/>
            <a:ext cx="329184" cy="329184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10680192" y="5641848"/>
            <a:ext cx="1252728" cy="6035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1100" b="1" i="0">
                <a:solidFill>
                  <a:srgbClr val="A8812E"/>
                </a:solidFill>
                <a:latin typeface="Comic Sans MS"/>
              </a:rPr>
              <a:t>Verdict</a:t>
            </a:r>
          </a:p>
          <a:p>
            <a:pPr algn="l">
              <a:lnSpc>
                <a:spcPct val="92000"/>
              </a:lnSpc>
            </a:pPr>
            <a:r>
              <a:rPr sz="900" b="0" i="0">
                <a:solidFill>
                  <a:srgbClr val="5F5F5F"/>
                </a:solidFill>
                <a:latin typeface="Comic Sans MS"/>
              </a:rPr>
              <a:t>accuracy, P/R/F1, over- and underclaim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