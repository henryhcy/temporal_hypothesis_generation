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36422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2743200"/>
          </a:xfrm>
          <a:prstGeom prst="roundRect">
            <a:avLst>
              <a:gd name="adj" fmla="val 3000"/>
            </a:avLst>
          </a:prstGeom>
          <a:solidFill>
            <a:srgbClr val="E7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237744" y="155448"/>
            <a:ext cx="420624" cy="420624"/>
          </a:xfrm>
          <a:prstGeom prst="ellipse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"/>
            <a:ext cx="6400800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0522D"/>
                </a:solidFill>
                <a:latin typeface="Verdana"/>
              </a:rPr>
              <a:t>STRATA Benchmark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" y="621792"/>
            <a:ext cx="28346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92608" y="694944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</a:rPr>
              <a:t>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658368"/>
            <a:ext cx="22128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Verdana"/>
              </a:rPr>
              <a:t>Clinical timelines</a:t>
            </a:r>
            <a:r>
              <a:rPr sz="900" b="0" i="0">
                <a:solidFill>
                  <a:srgbClr val="5F5F5F"/>
                </a:solidFill>
                <a:latin typeface="Verdana"/>
              </a:rPr>
              <a:t> (MedTempo)</a:t>
            </a:r>
          </a:p>
        </p:txBody>
      </p:sp>
      <p:pic>
        <p:nvPicPr>
          <p:cNvPr id="8" name="Picture 7" descr="clipboard-plus_A05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042416"/>
            <a:ext cx="420624" cy="420624"/>
          </a:xfrm>
          <a:prstGeom prst="rect">
            <a:avLst/>
          </a:prstGeom>
        </p:spPr>
      </p:pic>
      <p:pic>
        <p:nvPicPr>
          <p:cNvPr id="9" name="Picture 8" descr="file-text_4F6B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042416"/>
            <a:ext cx="4206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1517904"/>
            <a:ext cx="1280160" cy="10972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B2B2B"/>
                </a:solidFill>
                <a:latin typeface="Verdana"/>
              </a:rPr>
              <a:t>3,166 VAERS reports, three vaccines, each a leveled order of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2768" y="1005840"/>
            <a:ext cx="1408176" cy="16459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609344" y="1033272"/>
            <a:ext cx="1353312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Verdana"/>
              </a:rPr>
              <a:t>Example timeline</a:t>
            </a:r>
          </a:p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report MT-0482913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00784" y="1609344"/>
            <a:ext cx="1152144" cy="0"/>
          </a:xfrm>
          <a:prstGeom prst="line">
            <a:avLst/>
          </a:prstGeom>
          <a:ln w="22225">
            <a:solidFill>
              <a:srgbClr val="4F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709928" y="1545336"/>
            <a:ext cx="128016" cy="128016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682496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F6B75"/>
                </a:solidFill>
                <a:latin typeface="Verdana"/>
              </a:rPr>
              <a:t>Fever</a:t>
            </a:r>
          </a:p>
        </p:txBody>
      </p:sp>
      <p:sp>
        <p:nvSpPr>
          <p:cNvPr id="16" name="Oval 15"/>
          <p:cNvSpPr/>
          <p:nvPr/>
        </p:nvSpPr>
        <p:spPr>
          <a:xfrm>
            <a:off x="2212848" y="1545336"/>
            <a:ext cx="128016" cy="128016"/>
          </a:xfrm>
          <a:prstGeom prst="ellipse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1096" y="1682496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A0522D"/>
                </a:solidFill>
                <a:latin typeface="Verdana"/>
              </a:rPr>
              <a:t>Headache</a:t>
            </a:r>
          </a:p>
        </p:txBody>
      </p:sp>
      <p:sp>
        <p:nvSpPr>
          <p:cNvPr id="18" name="Oval 17"/>
          <p:cNvSpPr/>
          <p:nvPr/>
        </p:nvSpPr>
        <p:spPr>
          <a:xfrm>
            <a:off x="2715768" y="1545336"/>
            <a:ext cx="128016" cy="128016"/>
          </a:xfrm>
          <a:prstGeom prst="ellipse">
            <a:avLst/>
          </a:prstGeom>
          <a:solidFill>
            <a:srgbClr val="A88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1682496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A8812E"/>
                </a:solidFill>
                <a:latin typeface="Verdana"/>
              </a:rPr>
              <a:t>Fatigue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9344" y="1901952"/>
            <a:ext cx="1353312" cy="7315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stage → events; the first mention fixes the stage; events at one stage co-exist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90672" y="1627632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46704" y="621792"/>
            <a:ext cx="283464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419856" y="694944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</a:rPr>
              <a:t>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658368"/>
            <a:ext cx="221284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Verdana"/>
              </a:rPr>
              <a:t>Hypothesis templates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419856" y="1005840"/>
          <a:ext cx="2688336" cy="16276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112"/>
                <a:gridCol w="1792224"/>
              </a:tblGrid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Verdana"/>
                        </a:rPr>
                        <a:t>Precedes</a:t>
                      </a:r>
                    </a:p>
                  </a:txBody>
                  <a:tcPr marL="36576" marR="36576" marT="0" marB="0" anchor="ctr">
                    <a:solidFill>
                      <a:srgbClr val="E3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Verdana"/>
                        </a:rPr>
                        <a:t>A tends to precede B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Verdana"/>
                        </a:rPr>
                        <a:t>Co-occurs</a:t>
                      </a:r>
                    </a:p>
                  </a:txBody>
                  <a:tcPr marL="36576" marR="36576" marT="0" marB="0" anchor="ctr">
                    <a:solidFill>
                      <a:srgbClr val="F3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Verdana"/>
                        </a:rPr>
                        <a:t>A and B tend to co-occur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Verdana"/>
                        </a:rPr>
                        <a:t>Sequence</a:t>
                      </a:r>
                    </a:p>
                  </a:txBody>
                  <a:tcPr marL="36576" marR="36576" marT="0" marB="0" anchor="ctr">
                    <a:solidFill>
                      <a:srgbClr val="F1E2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Verdana"/>
                        </a:rPr>
                        <a:t>A, then B, then C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Verdana"/>
                        </a:rPr>
                        <a:t>First / Last</a:t>
                      </a:r>
                    </a:p>
                  </a:txBody>
                  <a:tcPr marL="36576" marR="36576" marT="0" marB="0" anchor="ctr">
                    <a:solidFill>
                      <a:srgbClr val="E3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Verdana"/>
                        </a:rPr>
                        <a:t>A is most often first (last)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Verdana"/>
                        </a:rPr>
                        <a:t>Position</a:t>
                      </a:r>
                    </a:p>
                  </a:txBody>
                  <a:tcPr marL="36576" marR="36576" marT="0" marB="0" anchor="ctr">
                    <a:solidFill>
                      <a:srgbClr val="F3EB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Verdana"/>
                        </a:rPr>
                        <a:t>A falls in the earlier half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Verdana"/>
                        </a:rPr>
                        <a:t>Proximity</a:t>
                      </a:r>
                    </a:p>
                  </a:txBody>
                  <a:tcPr marL="36576" marR="36576" marT="0" marB="0" anchor="ctr">
                    <a:solidFill>
                      <a:srgbClr val="F1E2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Verdana"/>
                        </a:rPr>
                        <a:t>A occurs right before B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  <a:tr h="23251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2B2B2B"/>
                          </a:solidFill>
                          <a:latin typeface="Verdana"/>
                        </a:rPr>
                        <a:t>Threshold</a:t>
                      </a:r>
                    </a:p>
                  </a:txBody>
                  <a:tcPr marL="36576" marR="36576" marT="0" marB="0" anchor="ctr">
                    <a:solidFill>
                      <a:srgbClr val="E3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B2B2B"/>
                          </a:solidFill>
                          <a:latin typeface="Verdana"/>
                        </a:rPr>
                        <a:t>A precedes B in ≥ 2/3</a:t>
                      </a:r>
                    </a:p>
                  </a:txBody>
                  <a:tcPr marL="36576" marR="36576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6" name="Connector 25"/>
          <p:cNvCxnSpPr/>
          <p:nvPr/>
        </p:nvCxnSpPr>
        <p:spPr>
          <a:xfrm>
            <a:off x="6217920" y="1627632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73952" y="621792"/>
            <a:ext cx="27432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547104" y="694944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</a:rPr>
              <a:t>1.3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658368"/>
            <a:ext cx="2121408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Verdana"/>
              </a:rPr>
              <a:t>Groups, families, levels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7104" y="1005840"/>
            <a:ext cx="2596896" cy="493776"/>
          </a:xfrm>
          <a:prstGeom prst="roundRect">
            <a:avLst>
              <a:gd name="adj" fmla="val 10000"/>
            </a:avLst>
          </a:prstGeom>
          <a:solidFill>
            <a:srgbClr val="E3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brain_4F6B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1088136"/>
            <a:ext cx="329184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67728" y="1024128"/>
            <a:ext cx="2157984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Verdana"/>
              </a:rPr>
              <a:t>26 groups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9 report, 16 cohort, 1 two-cohort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47104" y="1554480"/>
            <a:ext cx="2596896" cy="603504"/>
          </a:xfrm>
          <a:prstGeom prst="roundRect">
            <a:avLst>
              <a:gd name="adj" fmla="val 10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network_4F6B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1691640"/>
            <a:ext cx="329184" cy="3291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67728" y="1572768"/>
            <a:ext cx="2157984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Verdana"/>
              </a:rPr>
              <a:t>7 claim families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precedes, co-occurs, sequence, first/last, position, proximity, threshold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47104" y="2212848"/>
            <a:ext cx="2596896" cy="457200"/>
          </a:xfrm>
          <a:prstGeom prst="roundRect">
            <a:avLst>
              <a:gd name="adj" fmla="val 10000"/>
            </a:avLst>
          </a:prstGeom>
          <a:solidFill>
            <a:srgbClr val="F1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chart-no-axes-column_A052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2276856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67728" y="2231136"/>
            <a:ext cx="2157984" cy="42062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Verdana"/>
              </a:rPr>
              <a:t>3 difficulty levels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Easy one report; Medium one cohort; Hard two cohorts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53728" y="1627632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509760" y="621792"/>
            <a:ext cx="2459736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582912" y="694944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Verdana"/>
              </a:rPr>
              <a:t>1.4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76688" y="658368"/>
            <a:ext cx="1837943" cy="31089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Verdana"/>
              </a:rPr>
              <a:t>Gold at every stage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82912" y="1005840"/>
            <a:ext cx="2313432" cy="566928"/>
          </a:xfrm>
          <a:prstGeom prst="roundRect">
            <a:avLst>
              <a:gd name="adj" fmla="val 10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file-check_A881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1133856"/>
            <a:ext cx="310896" cy="31089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85248" y="1024128"/>
            <a:ext cx="1901952" cy="53035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Verdana"/>
              </a:rPr>
              <a:t>Plan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events, quantity, denominator primitive, arms, null, p0, tail, test, floor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82912" y="1627632"/>
            <a:ext cx="2313432" cy="475488"/>
          </a:xfrm>
          <a:prstGeom prst="roundRect">
            <a:avLst>
              <a:gd name="adj" fmla="val 10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database_A8812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7776" y="1709928"/>
            <a:ext cx="310896" cy="31089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985248" y="1645920"/>
            <a:ext cx="1901952" cy="43891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Verdana"/>
              </a:rPr>
              <a:t>Evidence sets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denominator, numerator and excluded ids; n, k per arm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82912" y="2157984"/>
            <a:ext cx="2313432" cy="512064"/>
          </a:xfrm>
          <a:prstGeom prst="roundRect">
            <a:avLst>
              <a:gd name="adj" fmla="val 10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chart-bar_A8812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2258568"/>
            <a:ext cx="310896" cy="31089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985248" y="2176272"/>
            <a:ext cx="1901952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2B2B2B"/>
                </a:solidFill>
                <a:latin typeface="Verdana"/>
              </a:rPr>
              <a:t>Statistics, verdict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p on both tails, Wilson CI, Cohen's h; three-way verdict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" y="2907792"/>
            <a:ext cx="12008815" cy="3438143"/>
          </a:xfrm>
          <a:prstGeom prst="roundRect">
            <a:avLst>
              <a:gd name="adj" fmla="val 3000"/>
            </a:avLst>
          </a:prstGeom>
          <a:solidFill>
            <a:srgbClr val="F1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37744" y="2971800"/>
            <a:ext cx="420624" cy="420624"/>
          </a:xfrm>
          <a:prstGeom prst="ellipse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2944368"/>
            <a:ext cx="6400800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A0522D"/>
                </a:solidFill>
                <a:latin typeface="Verdana"/>
              </a:rPr>
              <a:t>ART Verification Pipeline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9456" y="3438144"/>
            <a:ext cx="2212848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74320" y="3483864"/>
            <a:ext cx="21031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Verdana"/>
              </a:rPr>
              <a:t>Inputs</a:t>
            </a:r>
          </a:p>
        </p:txBody>
      </p:sp>
      <p:pic>
        <p:nvPicPr>
          <p:cNvPr id="57" name="Picture 56" descr="file-text_4F6B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803904"/>
            <a:ext cx="329184" cy="32918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76656" y="3767328"/>
            <a:ext cx="17373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2B2B2B"/>
                </a:solidFill>
                <a:latin typeface="Verdana"/>
              </a:rPr>
              <a:t>a claim in natural language, with its cohort and level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4261104"/>
            <a:ext cx="210312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2B2B"/>
                </a:solidFill>
                <a:latin typeface="Verdana"/>
              </a:rPr>
              <a:t>Resources (to S1)</a:t>
            </a:r>
          </a:p>
        </p:txBody>
      </p:sp>
      <p:pic>
        <p:nvPicPr>
          <p:cNvPr id="60" name="Picture 59" descr="list-checks_4F6B7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608" y="4590288"/>
            <a:ext cx="329184" cy="32918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76656" y="4535424"/>
            <a:ext cx="173736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2B2B2B"/>
                </a:solidFill>
                <a:latin typeface="Verdana"/>
              </a:rPr>
              <a:t>codebook: the corpus stipulations as text; null sources; test definitions</a:t>
            </a:r>
          </a:p>
        </p:txBody>
      </p:sp>
      <p:pic>
        <p:nvPicPr>
          <p:cNvPr id="62" name="Picture 61" descr="database_4F6B7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2608" y="5102352"/>
            <a:ext cx="329184" cy="32918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76656" y="5047488"/>
            <a:ext cx="1737360" cy="47548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 i="0">
                <a:solidFill>
                  <a:srgbClr val="2B2B2B"/>
                </a:solidFill>
                <a:latin typeface="Verdana"/>
              </a:rPr>
              <a:t>timeline DB: report, vaccine, term, first-mention stage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450592" y="3941064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450592" y="4764024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2706624" y="3438144"/>
            <a:ext cx="4443984" cy="2103120"/>
          </a:xfrm>
          <a:prstGeom prst="roundRect">
            <a:avLst>
              <a:gd name="adj" fmla="val 5000"/>
            </a:avLst>
          </a:prstGeom>
          <a:solidFill>
            <a:srgbClr val="E3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779776" y="3502152"/>
            <a:ext cx="493776" cy="493776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</a:rPr>
              <a:t>S1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Verdana"/>
              </a:rPr>
              <a:t>LLM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28416" y="3474720"/>
            <a:ext cx="379476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4F6B75"/>
                </a:solidFill>
                <a:latin typeface="Verdana"/>
              </a:rPr>
              <a:t>Articulate</a:t>
            </a:r>
          </a:p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F5F5F"/>
                </a:solidFill>
                <a:latin typeface="Verdana"/>
              </a:rPr>
              <a:t>form a structured plan; the claim-type mapping is withheld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79776" y="4059936"/>
            <a:ext cx="103327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2834640" y="4114800"/>
            <a:ext cx="237744" cy="23774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90672" y="4078224"/>
            <a:ext cx="71323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>
                <a:solidFill>
                  <a:srgbClr val="2B2B2B"/>
                </a:solidFill>
                <a:latin typeface="Verdana"/>
              </a:rPr>
              <a:t>Parse the claim</a:t>
            </a:r>
          </a:p>
        </p:txBody>
      </p:sp>
      <p:pic>
        <p:nvPicPr>
          <p:cNvPr id="72" name="Picture 71" descr="file-search_4F6B7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43784" y="4572000"/>
            <a:ext cx="274320" cy="27432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136392" y="4517136"/>
            <a:ext cx="676656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B2B2B"/>
                </a:solidFill>
                <a:latin typeface="Verdana"/>
              </a:rPr>
              <a:t>events, cohort, quantity, direction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813048" y="4562856"/>
            <a:ext cx="50291" cy="0"/>
          </a:xfrm>
          <a:prstGeom prst="line">
            <a:avLst/>
          </a:prstGeom>
          <a:ln w="1587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3863339" y="4059936"/>
            <a:ext cx="103327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3918203" y="4114800"/>
            <a:ext cx="237744" cy="23774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74235" y="4078224"/>
            <a:ext cx="71323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>
                <a:solidFill>
                  <a:srgbClr val="2B2B2B"/>
                </a:solidFill>
                <a:latin typeface="Verdana"/>
              </a:rPr>
              <a:t>Choose the primitive</a:t>
            </a:r>
          </a:p>
        </p:txBody>
      </p:sp>
      <p:pic>
        <p:nvPicPr>
          <p:cNvPr id="78" name="Picture 77" descr="git-branch_4F6B7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7348" y="4572000"/>
            <a:ext cx="274320" cy="27432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219955" y="4517136"/>
            <a:ext cx="676656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B2B2B"/>
                </a:solidFill>
                <a:latin typeface="Verdana"/>
              </a:rPr>
              <a:t>denominator rule; arms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896612" y="4562856"/>
            <a:ext cx="50292" cy="0"/>
          </a:xfrm>
          <a:prstGeom prst="line">
            <a:avLst/>
          </a:prstGeom>
          <a:ln w="1587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4946904" y="4059936"/>
            <a:ext cx="103327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5001768" y="4114800"/>
            <a:ext cx="237744" cy="23774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57800" y="4078224"/>
            <a:ext cx="71323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>
                <a:solidFill>
                  <a:srgbClr val="2B2B2B"/>
                </a:solidFill>
                <a:latin typeface="Verdana"/>
              </a:rPr>
              <a:t>Compose the plan</a:t>
            </a:r>
          </a:p>
        </p:txBody>
      </p:sp>
      <p:pic>
        <p:nvPicPr>
          <p:cNvPr id="84" name="Picture 83" descr="sigma_4F6B7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10912" y="4572000"/>
            <a:ext cx="274320" cy="27432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303520" y="4517136"/>
            <a:ext cx="676656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B2B2B"/>
                </a:solidFill>
                <a:latin typeface="Verdana"/>
              </a:rPr>
              <a:t>null, p0, tail, test family, floor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980176" y="4562856"/>
            <a:ext cx="50292" cy="0"/>
          </a:xfrm>
          <a:prstGeom prst="line">
            <a:avLst/>
          </a:prstGeom>
          <a:ln w="1587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6030468" y="4059936"/>
            <a:ext cx="1033271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6085332" y="4114800"/>
            <a:ext cx="237744" cy="23774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41364" y="4078224"/>
            <a:ext cx="71323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000" b="1" i="0">
                <a:solidFill>
                  <a:srgbClr val="2B2B2B"/>
                </a:solidFill>
                <a:latin typeface="Verdana"/>
              </a:rPr>
              <a:t>Verify, 1 round</a:t>
            </a:r>
          </a:p>
        </p:txBody>
      </p:sp>
      <p:pic>
        <p:nvPicPr>
          <p:cNvPr id="90" name="Picture 89" descr="timer-reset_4F6B7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4476" y="4572000"/>
            <a:ext cx="274320" cy="27432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387084" y="4517136"/>
            <a:ext cx="676656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2B2B2B"/>
                </a:solidFill>
                <a:latin typeface="Verdana"/>
              </a:rPr>
              <a:t>plan vs the codebook; re-ask once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779776" y="5120640"/>
            <a:ext cx="4297680" cy="365760"/>
          </a:xfrm>
          <a:prstGeom prst="roundRect">
            <a:avLst>
              <a:gd name="adj" fmla="val 10000"/>
            </a:avLst>
          </a:prstGeom>
          <a:solidFill>
            <a:srgbClr val="F1E2DA"/>
          </a:solidFill>
          <a:ln w="12700">
            <a:solidFill>
              <a:srgbClr val="A05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2834640" y="5120640"/>
            <a:ext cx="4206240" cy="36576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A0522D"/>
                </a:solidFill>
                <a:latin typeface="Verdana"/>
              </a:rPr>
              <a:t>Contract: </a:t>
            </a:r>
            <a:r>
              <a:rPr sz="900" b="0" i="0">
                <a:solidFill>
                  <a:srgbClr val="2B2B2B"/>
                </a:solidFill>
                <a:latin typeface="Verdana"/>
              </a:rPr>
              <a:t>the harness resolves the plan's primitive into its exact rule and states it to S2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168896" y="4489704"/>
            <a:ext cx="219456" cy="0"/>
          </a:xfrm>
          <a:prstGeom prst="line">
            <a:avLst/>
          </a:prstGeom>
          <a:ln w="28575">
            <a:solidFill>
              <a:srgbClr val="A0522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7424927" y="3438144"/>
            <a:ext cx="2523744" cy="2103120"/>
          </a:xfrm>
          <a:prstGeom prst="roundRect">
            <a:avLst>
              <a:gd name="adj" fmla="val 5000"/>
            </a:avLst>
          </a:prstGeom>
          <a:solidFill>
            <a:srgbClr val="F3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7498079" y="3502152"/>
            <a:ext cx="493776" cy="493776"/>
          </a:xfrm>
          <a:prstGeom prst="ellipse">
            <a:avLst/>
          </a:prstGeom>
          <a:solidFill>
            <a:srgbClr val="A0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</a:rPr>
              <a:t>S2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Verdana"/>
              </a:rPr>
              <a:t>LLM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46720" y="3474720"/>
            <a:ext cx="1874519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0522D"/>
                </a:solidFill>
                <a:latin typeface="Verdana"/>
              </a:rPr>
              <a:t>Retrieve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F5F5F"/>
                </a:solidFill>
                <a:latin typeface="Verdana"/>
              </a:rPr>
              <a:t>plan to evidence sets</a:t>
            </a:r>
          </a:p>
        </p:txBody>
      </p:sp>
      <p:pic>
        <p:nvPicPr>
          <p:cNvPr id="98" name="Picture 97" descr="code_A0522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8079" y="4096512"/>
            <a:ext cx="292608" cy="29260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845552" y="4059936"/>
            <a:ext cx="2084831" cy="5120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Verdana"/>
              </a:rPr>
              <a:t>told the schema and the contract; one SQL per arm, one row per report</a:t>
            </a:r>
          </a:p>
        </p:txBody>
      </p:sp>
      <p:pic>
        <p:nvPicPr>
          <p:cNvPr id="100" name="Picture 99" descr="table-2_A0522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8079" y="4590288"/>
            <a:ext cx="292608" cy="29260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7845552" y="4553712"/>
            <a:ext cx="2084831" cy="5120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Verdana"/>
              </a:rPr>
              <a:t>sandbox: read-only execution → n, k and report ids per arm</a:t>
            </a:r>
          </a:p>
        </p:txBody>
      </p:sp>
      <p:pic>
        <p:nvPicPr>
          <p:cNvPr id="102" name="Picture 101" descr="timer-reset_A0522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8079" y="5065776"/>
            <a:ext cx="292608" cy="29260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845552" y="5029200"/>
            <a:ext cx="2084831" cy="512064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Verdana"/>
              </a:rPr>
              <a:t>verify, up to 2 rounds: rejected SQL, n = k, empty arm, rule leaks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9966960" y="4489704"/>
            <a:ext cx="219456" cy="0"/>
          </a:xfrm>
          <a:prstGeom prst="line">
            <a:avLst/>
          </a:prstGeom>
          <a:ln w="22225">
            <a:solidFill>
              <a:srgbClr val="5F5F5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10222992" y="3438144"/>
            <a:ext cx="1746504" cy="2103120"/>
          </a:xfrm>
          <a:prstGeom prst="roundRect">
            <a:avLst>
              <a:gd name="adj" fmla="val 5000"/>
            </a:avLst>
          </a:prstGeom>
          <a:solidFill>
            <a:srgbClr val="E3E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10296144" y="3502152"/>
            <a:ext cx="493776" cy="493776"/>
          </a:xfrm>
          <a:prstGeom prst="ellipse">
            <a:avLst/>
          </a:prstGeom>
          <a:solidFill>
            <a:srgbClr val="A88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</a:rPr>
              <a:t>S3</a:t>
            </a:r>
          </a:p>
          <a:p>
            <a:pPr algn="ctr"/>
            <a:r>
              <a:rPr sz="650">
                <a:solidFill>
                  <a:srgbClr val="FFFFFF"/>
                </a:solidFill>
                <a:latin typeface="Verdana"/>
              </a:rPr>
              <a:t>function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44784" y="3474720"/>
            <a:ext cx="1106424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A8812E"/>
                </a:solidFill>
                <a:latin typeface="Verdana"/>
              </a:rPr>
              <a:t>Test</a:t>
            </a:r>
          </a:p>
          <a:p>
            <a:pPr algn="l">
              <a:lnSpc>
                <a:spcPct val="95000"/>
              </a:lnSpc>
            </a:pPr>
            <a:r>
              <a:rPr sz="1050" b="0" i="0">
                <a:solidFill>
                  <a:srgbClr val="5F5F5F"/>
                </a:solidFill>
                <a:latin typeface="Verdana"/>
              </a:rPr>
              <a:t>exact, deterministic</a:t>
            </a:r>
          </a:p>
        </p:txBody>
      </p:sp>
      <p:pic>
        <p:nvPicPr>
          <p:cNvPr id="108" name="Picture 107" descr="settings_A8812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96144" y="4096512"/>
            <a:ext cx="292608" cy="29260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625328" y="4041648"/>
            <a:ext cx="1325880" cy="8229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B2B2B"/>
                </a:solidFill>
                <a:latin typeface="Verdana"/>
              </a:rPr>
              <a:t>exact binomial vs p0; Fisher's test, two arms; modal-vs-runner-up, argmax; floor n ≥ 10</a:t>
            </a:r>
          </a:p>
        </p:txBody>
      </p:sp>
      <p:pic>
        <p:nvPicPr>
          <p:cNvPr id="110" name="Picture 109" descr="circle-check_4F6B7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96144" y="4864608"/>
            <a:ext cx="201168" cy="2011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0533888" y="4837176"/>
            <a:ext cx="137160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Verdana"/>
              </a:rPr>
              <a:t>Supported</a:t>
            </a:r>
          </a:p>
        </p:txBody>
      </p:sp>
      <p:pic>
        <p:nvPicPr>
          <p:cNvPr id="112" name="Picture 111" descr="circle-x_A0522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96144" y="5084064"/>
            <a:ext cx="201168" cy="20116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0533888" y="5056632"/>
            <a:ext cx="137160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Verdana"/>
              </a:rPr>
              <a:t>Refuted</a:t>
            </a:r>
          </a:p>
        </p:txBody>
      </p:sp>
      <p:pic>
        <p:nvPicPr>
          <p:cNvPr id="114" name="Picture 113" descr="circle-help_A8812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96144" y="5303520"/>
            <a:ext cx="201168" cy="20116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0533888" y="5276088"/>
            <a:ext cx="1371600" cy="25603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B2B2B"/>
                </a:solidFill>
                <a:latin typeface="Verdana"/>
              </a:rPr>
              <a:t>Insufficient</a:t>
            </a:r>
          </a:p>
        </p:txBody>
      </p:sp>
      <p:sp>
        <p:nvSpPr>
          <p:cNvPr id="116" name="Oval 115"/>
          <p:cNvSpPr/>
          <p:nvPr/>
        </p:nvSpPr>
        <p:spPr>
          <a:xfrm>
            <a:off x="237744" y="5705856"/>
            <a:ext cx="420624" cy="420624"/>
          </a:xfrm>
          <a:prstGeom prst="ellipse">
            <a:avLst/>
          </a:prstGeom>
          <a:solidFill>
            <a:srgbClr val="4F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1520" y="5650992"/>
            <a:ext cx="1737360" cy="29260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F6B75"/>
                </a:solidFill>
                <a:latin typeface="Verdana"/>
              </a:rPr>
              <a:t>Evaluation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1520" y="5907024"/>
            <a:ext cx="1700784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per stage; any stage can be set to gold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706624" y="5632704"/>
            <a:ext cx="4443984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0" name="Picture 119" descr="file-check_4F6B7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79776" y="5779008"/>
            <a:ext cx="329184" cy="329184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3163824" y="5641848"/>
            <a:ext cx="3950208" cy="6035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 i="0">
                <a:solidFill>
                  <a:srgbClr val="4F6B75"/>
                </a:solidFill>
                <a:latin typeface="Verdana"/>
              </a:rPr>
              <a:t>Plan correctness</a:t>
            </a:r>
          </a:p>
          <a:p>
            <a:pPr algn="l">
              <a:lnSpc>
                <a:spcPct val="92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plan EM, claim-type EM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424927" y="5632704"/>
            <a:ext cx="2523744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3" name="Picture 122" descr="database_A0522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98079" y="5779008"/>
            <a:ext cx="329184" cy="329184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7882127" y="5641848"/>
            <a:ext cx="2029967" cy="6035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 i="0">
                <a:solidFill>
                  <a:srgbClr val="A0522D"/>
                </a:solidFill>
                <a:latin typeface="Verdana"/>
              </a:rPr>
              <a:t>Evidence correctness</a:t>
            </a:r>
          </a:p>
          <a:p>
            <a:pPr algn="l">
              <a:lnSpc>
                <a:spcPct val="92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evidence F1, co-exist / tie leak, faithfulness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222992" y="5632704"/>
            <a:ext cx="1746504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8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6" name="Picture 125" descr="scale_A8812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96144" y="5779008"/>
            <a:ext cx="329184" cy="329184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0680192" y="5641848"/>
            <a:ext cx="1252728" cy="603504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 i="0">
                <a:solidFill>
                  <a:srgbClr val="A8812E"/>
                </a:solidFill>
                <a:latin typeface="Verdana"/>
              </a:rPr>
              <a:t>Verdict</a:t>
            </a:r>
          </a:p>
          <a:p>
            <a:pPr algn="l">
              <a:lnSpc>
                <a:spcPct val="92000"/>
              </a:lnSpc>
            </a:pPr>
            <a:r>
              <a:rPr sz="900" b="0" i="0">
                <a:solidFill>
                  <a:srgbClr val="5F5F5F"/>
                </a:solidFill>
                <a:latin typeface="Verdana"/>
              </a:rPr>
              <a:t>accuracy, P/R/F1, over- and underclaim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