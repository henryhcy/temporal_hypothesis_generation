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48000" cy="412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3500" y="63500"/>
            <a:ext cx="2921000" cy="342900"/>
          </a:xfrm>
          <a:prstGeom prst="rect">
            <a:avLst/>
          </a:prstGeom>
          <a:solidFill>
            <a:srgbClr val="F6F0E2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" y="139700"/>
            <a:ext cx="228600" cy="228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4500" y="123952"/>
            <a:ext cx="2758049" cy="15290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60" b="1" i="0">
                <a:solidFill>
                  <a:srgbClr val="A8812E"/>
                </a:solidFill>
                <a:latin typeface="Comic Neue"/>
              </a:rPr>
              <a:t>Claim: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After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Moderna,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Pain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typically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occurs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500" y="255015"/>
            <a:ext cx="1099980" cy="15290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60" b="1" i="0">
                <a:solidFill>
                  <a:srgbClr val="2B3A42"/>
                </a:solidFill>
                <a:latin typeface="Comic Neue"/>
              </a:rPr>
              <a:t>before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Asthenia.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00" y="457200"/>
            <a:ext cx="2921000" cy="1905000"/>
          </a:xfrm>
          <a:prstGeom prst="rect">
            <a:avLst/>
          </a:prstGeom>
          <a:solidFill>
            <a:srgbClr val="EEF2F4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27000" y="468630"/>
            <a:ext cx="1382996" cy="191770"/>
          </a:xfrm>
          <a:prstGeom prst="rect">
            <a:avLst/>
          </a:prstGeom>
          <a:solidFill>
            <a:srgbClr val="EBDDBE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4150" y="514644"/>
            <a:ext cx="1498207" cy="17068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960" b="0" i="0">
                <a:solidFill>
                  <a:srgbClr val="2B3A42"/>
                </a:solidFill>
                <a:latin typeface="Bangers"/>
              </a:rPr>
              <a:t>1  WHICH REPORTS COUNT?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100" y="508000"/>
            <a:ext cx="19050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" y="749300"/>
            <a:ext cx="139700" cy="139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7500" y="733551"/>
            <a:ext cx="549217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5E8263"/>
                </a:solidFill>
                <a:latin typeface="Comic Neue"/>
              </a:rPr>
              <a:t>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" y="830961"/>
            <a:ext cx="573105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Pain 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9500" y="7493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20140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189990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1551940" y="83820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651000" y="7493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676400" y="77470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644902" y="79108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1837689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2123440" y="83820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22500" y="7493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247900" y="774700"/>
            <a:ext cx="127000" cy="12700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216453" y="791083"/>
            <a:ext cx="189892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sp>
        <p:nvSpPr>
          <p:cNvPr id="25" name="Oval 24"/>
          <p:cNvSpPr/>
          <p:nvPr/>
        </p:nvSpPr>
        <p:spPr>
          <a:xfrm>
            <a:off x="2409190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" y="971550"/>
            <a:ext cx="139700" cy="139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17500" y="955801"/>
            <a:ext cx="549217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5E8263"/>
                </a:solidFill>
                <a:latin typeface="Comic Neue"/>
              </a:rPr>
              <a:t>counted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00" y="1053211"/>
            <a:ext cx="787348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Asthenia first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9500" y="9715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104900" y="996950"/>
            <a:ext cx="127000" cy="12700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73453" y="1013333"/>
            <a:ext cx="189892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sp>
        <p:nvSpPr>
          <p:cNvPr id="32" name="Oval 31"/>
          <p:cNvSpPr/>
          <p:nvPr/>
        </p:nvSpPr>
        <p:spPr>
          <a:xfrm>
            <a:off x="1266190" y="10375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336040" y="10375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1551940" y="106045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651000" y="9715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691639" y="10375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2123440" y="106045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222500" y="9715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2247900" y="99695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216402" y="101333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700" y="1193800"/>
            <a:ext cx="139700" cy="1397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17500" y="1178052"/>
            <a:ext cx="593768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A0522D"/>
                </a:solidFill>
                <a:latin typeface="Comic Neue"/>
              </a:rPr>
              <a:t>excluded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7500" y="1275461"/>
            <a:ext cx="698916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same stage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9500" y="11938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104900" y="121920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73402" y="123558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sp>
        <p:nvSpPr>
          <p:cNvPr id="47" name="Oval 46"/>
          <p:cNvSpPr/>
          <p:nvPr/>
        </p:nvSpPr>
        <p:spPr>
          <a:xfrm>
            <a:off x="1250950" y="1219200"/>
            <a:ext cx="127000" cy="12700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219503" y="1235583"/>
            <a:ext cx="189892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551940" y="128270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651000" y="11938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691639" y="12598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1761489" y="12598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1831339" y="12598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700" y="1416050"/>
            <a:ext cx="139700" cy="1397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17500" y="1400302"/>
            <a:ext cx="593768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A0522D"/>
                </a:solidFill>
                <a:latin typeface="Comic Neue"/>
              </a:rPr>
              <a:t>excluded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7500" y="1497711"/>
            <a:ext cx="725177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no Asthenia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79500" y="14160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104900" y="144145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73402" y="145783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551940" y="150495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1651000" y="14160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1691639" y="14820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1761489" y="14820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1831339" y="14820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137160" y="1615440"/>
            <a:ext cx="106680" cy="10668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8700" y="1627123"/>
            <a:ext cx="183598" cy="110236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9400" y="1618361"/>
            <a:ext cx="461714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Pain   </a:t>
            </a:r>
          </a:p>
        </p:txBody>
      </p:sp>
      <p:sp>
        <p:nvSpPr>
          <p:cNvPr id="68" name="Oval 67"/>
          <p:cNvSpPr/>
          <p:nvPr/>
        </p:nvSpPr>
        <p:spPr>
          <a:xfrm>
            <a:off x="521632" y="1615440"/>
            <a:ext cx="106680" cy="10668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483225" y="1627123"/>
            <a:ext cx="183495" cy="110236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3872" y="1618361"/>
            <a:ext cx="675957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Asthenia   </a:t>
            </a:r>
          </a:p>
        </p:txBody>
      </p:sp>
      <p:sp>
        <p:nvSpPr>
          <p:cNvPr id="71" name="Oval 70"/>
          <p:cNvSpPr/>
          <p:nvPr/>
        </p:nvSpPr>
        <p:spPr>
          <a:xfrm>
            <a:off x="1088687" y="164592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75047" y="1618361"/>
            <a:ext cx="1835991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other event;  one box = one stage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9700" y="1784095"/>
            <a:ext cx="2674106" cy="13868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79" b="0" i="0">
                <a:solidFill>
                  <a:srgbClr val="2B3A42"/>
                </a:solidFill>
                <a:latin typeface="Comic Neue"/>
              </a:rPr>
              <a:t>983 Moderna reports; </a:t>
            </a:r>
            <a:r>
              <a:rPr sz="779" b="1" i="0">
                <a:solidFill>
                  <a:srgbClr val="2B3A42"/>
                </a:solidFill>
                <a:latin typeface="Comic Neue"/>
              </a:rPr>
              <a:t>30 mention both events: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3970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23198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32427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416559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50884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60113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69342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78570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87799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97028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106256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115485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124714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133942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143171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152400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161628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170857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1800860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1893146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1985433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2077720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2170006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2262293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2354580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2446866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2539153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2631440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2723726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2816013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139700" y="2044700"/>
            <a:ext cx="2768600" cy="114300"/>
          </a:xfrm>
          <a:prstGeom prst="rect">
            <a:avLst/>
          </a:prstGeom>
          <a:noFill/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Freeform 104"/>
          <p:cNvSpPr/>
          <p:nvPr/>
        </p:nvSpPr>
        <p:spPr>
          <a:xfrm>
            <a:off x="152400" y="1993900"/>
            <a:ext cx="2006600" cy="38100"/>
          </a:xfrm>
          <a:custGeom>
            <a:avLst/>
            <a:gdLst/>
            <a:ahLst/>
            <a:cxnLst/>
            <a:rect l="l" t="t" r="r" b="b"/>
            <a:pathLst>
              <a:path w="158" h="3">
                <a:moveTo>
                  <a:pt x="0" y="3"/>
                </a:moveTo>
                <a:lnTo>
                  <a:pt x="0" y="0"/>
                </a:lnTo>
                <a:lnTo>
                  <a:pt x="158" y="0"/>
                </a:lnTo>
                <a:lnTo>
                  <a:pt x="158" y="3"/>
                </a:lnTo>
              </a:path>
            </a:pathLst>
          </a:custGeom>
          <a:noFill/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00050" y="1886204"/>
            <a:ext cx="1309606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2B3A42"/>
                </a:solidFill>
                <a:latin typeface="Comic Neue"/>
              </a:rPr>
              <a:t>n = 22: different stages</a:t>
            </a:r>
          </a:p>
        </p:txBody>
      </p:sp>
      <p:sp>
        <p:nvSpPr>
          <p:cNvPr id="107" name="Freeform 106"/>
          <p:cNvSpPr/>
          <p:nvPr/>
        </p:nvSpPr>
        <p:spPr>
          <a:xfrm>
            <a:off x="2184400" y="1993900"/>
            <a:ext cx="711200" cy="38100"/>
          </a:xfrm>
          <a:custGeom>
            <a:avLst/>
            <a:gdLst/>
            <a:ahLst/>
            <a:cxnLst/>
            <a:rect l="l" t="t" r="r" b="b"/>
            <a:pathLst>
              <a:path w="56" h="3">
                <a:moveTo>
                  <a:pt x="0" y="3"/>
                </a:moveTo>
                <a:lnTo>
                  <a:pt x="0" y="0"/>
                </a:lnTo>
                <a:lnTo>
                  <a:pt x="56" y="0"/>
                </a:lnTo>
                <a:lnTo>
                  <a:pt x="56" y="3"/>
                </a:lnTo>
              </a:path>
            </a:pathLst>
          </a:custGeom>
          <a:noFill/>
          <a:ln w="10160">
            <a:solidFill>
              <a:srgbClr val="857F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2135702" y="1886204"/>
            <a:ext cx="806902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857F75"/>
                </a:solidFill>
                <a:latin typeface="Comic Neue"/>
              </a:rPr>
              <a:t>8 same stage</a:t>
            </a:r>
          </a:p>
        </p:txBody>
      </p:sp>
      <p:sp>
        <p:nvSpPr>
          <p:cNvPr id="109" name="Freeform 108"/>
          <p:cNvSpPr/>
          <p:nvPr/>
        </p:nvSpPr>
        <p:spPr>
          <a:xfrm>
            <a:off x="152400" y="2171700"/>
            <a:ext cx="1638300" cy="38100"/>
          </a:xfrm>
          <a:custGeom>
            <a:avLst/>
            <a:gdLst/>
            <a:ahLst/>
            <a:cxnLst/>
            <a:rect l="l" t="t" r="r" b="b"/>
            <a:pathLst>
              <a:path w="129" h="3">
                <a:moveTo>
                  <a:pt x="0" y="0"/>
                </a:moveTo>
                <a:lnTo>
                  <a:pt x="0" y="3"/>
                </a:lnTo>
                <a:lnTo>
                  <a:pt x="129" y="3"/>
                </a:lnTo>
                <a:lnTo>
                  <a:pt x="129" y="0"/>
                </a:lnTo>
              </a:path>
            </a:pathLst>
          </a:custGeom>
          <a:noFill/>
          <a:ln w="1016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87490" y="2221484"/>
            <a:ext cx="965579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A0522D"/>
                </a:solidFill>
                <a:latin typeface="Comic Neue"/>
              </a:rPr>
              <a:t>k = 18: Pain first</a:t>
            </a:r>
          </a:p>
        </p:txBody>
      </p:sp>
      <p:sp>
        <p:nvSpPr>
          <p:cNvPr id="111" name="Freeform 110"/>
          <p:cNvSpPr/>
          <p:nvPr/>
        </p:nvSpPr>
        <p:spPr>
          <a:xfrm>
            <a:off x="1803400" y="21717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28" h="3">
                <a:moveTo>
                  <a:pt x="0" y="0"/>
                </a:moveTo>
                <a:lnTo>
                  <a:pt x="0" y="3"/>
                </a:lnTo>
                <a:lnTo>
                  <a:pt x="28" y="3"/>
                </a:lnTo>
                <a:lnTo>
                  <a:pt x="28" y="0"/>
                </a:lnTo>
              </a:path>
            </a:pathLst>
          </a:custGeom>
          <a:noFill/>
          <a:ln w="10160">
            <a:solidFill>
              <a:srgbClr val="4F6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1704414" y="2221484"/>
            <a:ext cx="562038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4F6B75"/>
                </a:solidFill>
                <a:latin typeface="Comic Neue"/>
              </a:rPr>
              <a:t>4: A first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500" y="2413000"/>
            <a:ext cx="2921000" cy="774700"/>
          </a:xfrm>
          <a:prstGeom prst="rect">
            <a:avLst/>
          </a:prstGeom>
          <a:solidFill>
            <a:srgbClr val="F6ECE6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127000" y="2424430"/>
            <a:ext cx="1481218" cy="191770"/>
          </a:xfrm>
          <a:prstGeom prst="rect">
            <a:avLst/>
          </a:prstGeom>
          <a:solidFill>
            <a:srgbClr val="EBDDBE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184150" y="2470444"/>
            <a:ext cx="1598092" cy="17068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960" b="0" i="0">
                <a:solidFill>
                  <a:srgbClr val="2B3A42"/>
                </a:solidFill>
                <a:latin typeface="Bangers"/>
              </a:rPr>
              <a:t>2  A SINGLE-QUERY BASELINE</a:t>
            </a: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700" y="2654300"/>
            <a:ext cx="254000" cy="254000"/>
          </a:xfrm>
          <a:prstGeom prst="rect">
            <a:avLst/>
          </a:prstGeom>
        </p:spPr>
      </p:pic>
      <p:sp>
        <p:nvSpPr>
          <p:cNvPr id="117" name="Freeform 116"/>
          <p:cNvSpPr/>
          <p:nvPr/>
        </p:nvSpPr>
        <p:spPr>
          <a:xfrm>
            <a:off x="406400" y="2654300"/>
            <a:ext cx="2501900" cy="203200"/>
          </a:xfrm>
          <a:custGeom>
            <a:avLst/>
            <a:gdLst/>
            <a:ahLst/>
            <a:cxnLst/>
            <a:rect l="l" t="t" r="r" b="b"/>
            <a:pathLst>
              <a:path w="197" h="16">
                <a:moveTo>
                  <a:pt x="12" y="0"/>
                </a:moveTo>
                <a:lnTo>
                  <a:pt x="190" y="0"/>
                </a:lnTo>
                <a:lnTo>
                  <a:pt x="193" y="0"/>
                </a:lnTo>
                <a:lnTo>
                  <a:pt x="194" y="1"/>
                </a:lnTo>
                <a:lnTo>
                  <a:pt x="196" y="3"/>
                </a:lnTo>
                <a:lnTo>
                  <a:pt x="197" y="4"/>
                </a:lnTo>
                <a:lnTo>
                  <a:pt x="197" y="7"/>
                </a:lnTo>
                <a:lnTo>
                  <a:pt x="197" y="9"/>
                </a:lnTo>
                <a:lnTo>
                  <a:pt x="197" y="12"/>
                </a:lnTo>
                <a:lnTo>
                  <a:pt x="196" y="13"/>
                </a:lnTo>
                <a:lnTo>
                  <a:pt x="194" y="15"/>
                </a:lnTo>
                <a:lnTo>
                  <a:pt x="193" y="16"/>
                </a:lnTo>
                <a:lnTo>
                  <a:pt x="190" y="16"/>
                </a:lnTo>
                <a:lnTo>
                  <a:pt x="12" y="16"/>
                </a:lnTo>
                <a:lnTo>
                  <a:pt x="9" y="16"/>
                </a:lnTo>
                <a:lnTo>
                  <a:pt x="8" y="15"/>
                </a:lnTo>
                <a:lnTo>
                  <a:pt x="6" y="13"/>
                </a:lnTo>
                <a:lnTo>
                  <a:pt x="5" y="12"/>
                </a:lnTo>
                <a:lnTo>
                  <a:pt x="5" y="9"/>
                </a:lnTo>
                <a:lnTo>
                  <a:pt x="5" y="10"/>
                </a:lnTo>
                <a:lnTo>
                  <a:pt x="0" y="9"/>
                </a:lnTo>
                <a:lnTo>
                  <a:pt x="5" y="6"/>
                </a:lnTo>
                <a:lnTo>
                  <a:pt x="5" y="7"/>
                </a:lnTo>
                <a:lnTo>
                  <a:pt x="5" y="4"/>
                </a:lnTo>
                <a:lnTo>
                  <a:pt x="6" y="3"/>
                </a:lnTo>
                <a:lnTo>
                  <a:pt x="8" y="1"/>
                </a:lnTo>
                <a:lnTo>
                  <a:pt x="9" y="0"/>
                </a:lnTo>
                <a:lnTo>
                  <a:pt x="12" y="0"/>
                </a:lnTo>
                <a:close/>
              </a:path>
            </a:pathLst>
          </a:custGeom>
          <a:solidFill>
            <a:srgbClr val="FFFFFF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58800" y="2696464"/>
            <a:ext cx="2552164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0" i="0">
                <a:solidFill>
                  <a:srgbClr val="2B3A42"/>
                </a:solidFill>
                <a:latin typeface="Comic Neue"/>
              </a:rPr>
              <a:t>“I count a report only if </a:t>
            </a:r>
            <a:r>
              <a:rPr sz="819" b="1" i="0">
                <a:solidFill>
                  <a:srgbClr val="A0522D"/>
                </a:solidFill>
                <a:latin typeface="Comic Neue"/>
              </a:rPr>
              <a:t>Pain comes first</a:t>
            </a:r>
            <a:r>
              <a:rPr sz="819" b="0" i="0">
                <a:solidFill>
                  <a:srgbClr val="2B3A42"/>
                </a:solidFill>
                <a:latin typeface="Comic Neue"/>
              </a:rPr>
              <a:t>.”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39700" y="2895600"/>
            <a:ext cx="741259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90500" y="2915564"/>
            <a:ext cx="904156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1" i="0">
                <a:solidFill>
                  <a:srgbClr val="A0522D"/>
                </a:solidFill>
                <a:latin typeface="Comic Neue"/>
              </a:rPr>
              <a:t>n = 18, k = 18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900009" y="2971800"/>
            <a:ext cx="7620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/>
          <p:cNvSpPr/>
          <p:nvPr/>
        </p:nvSpPr>
        <p:spPr>
          <a:xfrm>
            <a:off x="995259" y="2895600"/>
            <a:ext cx="605218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046059" y="2915564"/>
            <a:ext cx="762635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0" i="0">
                <a:solidFill>
                  <a:srgbClr val="2B3A42"/>
                </a:solidFill>
                <a:latin typeface="Comic Neue"/>
              </a:rPr>
              <a:t>p &lt; 0.0001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619528" y="2971800"/>
            <a:ext cx="7620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1714778" y="2895600"/>
            <a:ext cx="552424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765578" y="2915564"/>
            <a:ext cx="696001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0" i="0">
                <a:solidFill>
                  <a:srgbClr val="2B3A42"/>
                </a:solidFill>
                <a:latin typeface="Comic Neue"/>
              </a:rPr>
              <a:t>supported</a:t>
            </a:r>
          </a:p>
        </p:txBody>
      </p:sp>
      <p:sp>
        <p:nvSpPr>
          <p:cNvPr id="127" name="Freeform 126"/>
          <p:cNvSpPr/>
          <p:nvPr/>
        </p:nvSpPr>
        <p:spPr>
          <a:xfrm>
            <a:off x="2565400" y="27940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17"/>
                </a:moveTo>
                <a:lnTo>
                  <a:pt x="22" y="18"/>
                </a:lnTo>
                <a:lnTo>
                  <a:pt x="24" y="23"/>
                </a:lnTo>
                <a:lnTo>
                  <a:pt x="18" y="21"/>
                </a:lnTo>
                <a:lnTo>
                  <a:pt x="17" y="27"/>
                </a:lnTo>
                <a:lnTo>
                  <a:pt x="14" y="22"/>
                </a:lnTo>
                <a:lnTo>
                  <a:pt x="10" y="27"/>
                </a:lnTo>
                <a:lnTo>
                  <a:pt x="9" y="21"/>
                </a:lnTo>
                <a:lnTo>
                  <a:pt x="3" y="22"/>
                </a:lnTo>
                <a:lnTo>
                  <a:pt x="6" y="17"/>
                </a:lnTo>
                <a:lnTo>
                  <a:pt x="0" y="15"/>
                </a:lnTo>
                <a:lnTo>
                  <a:pt x="6" y="12"/>
                </a:lnTo>
                <a:lnTo>
                  <a:pt x="2" y="8"/>
                </a:lnTo>
                <a:lnTo>
                  <a:pt x="8" y="8"/>
                </a:lnTo>
                <a:lnTo>
                  <a:pt x="7" y="2"/>
                </a:lnTo>
                <a:lnTo>
                  <a:pt x="12" y="6"/>
                </a:lnTo>
                <a:lnTo>
                  <a:pt x="15" y="0"/>
                </a:lnTo>
                <a:lnTo>
                  <a:pt x="17" y="6"/>
                </a:lnTo>
                <a:lnTo>
                  <a:pt x="22" y="3"/>
                </a:lnTo>
                <a:lnTo>
                  <a:pt x="21" y="9"/>
                </a:lnTo>
                <a:lnTo>
                  <a:pt x="27" y="9"/>
                </a:lnTo>
                <a:lnTo>
                  <a:pt x="22" y="13"/>
                </a:lnTo>
                <a:close/>
              </a:path>
            </a:pathLst>
          </a:custGeom>
          <a:solidFill>
            <a:srgbClr val="EBDDBE"/>
          </a:solidFill>
          <a:ln w="1143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2556287" y="2922430"/>
            <a:ext cx="373824" cy="138684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80" b="0" i="0">
                <a:solidFill>
                  <a:srgbClr val="A0522D"/>
                </a:solidFill>
                <a:latin typeface="Bangers"/>
              </a:rPr>
              <a:t>n = k!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9700" y="3054096"/>
            <a:ext cx="2536350" cy="13868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79" b="0" i="0">
                <a:solidFill>
                  <a:srgbClr val="2B3A42"/>
                </a:solidFill>
                <a:latin typeface="Comic Neue"/>
              </a:rPr>
              <a:t>The </a:t>
            </a:r>
            <a:r>
              <a:rPr sz="779" b="1" i="0">
                <a:solidFill>
                  <a:srgbClr val="4F6B75"/>
                </a:solidFill>
                <a:latin typeface="Comic Neue"/>
              </a:rPr>
              <a:t>4 Asthenia-first reports</a:t>
            </a:r>
            <a:r>
              <a:rPr sz="779" b="0" i="0">
                <a:solidFill>
                  <a:srgbClr val="2B3A42"/>
                </a:solidFill>
                <a:latin typeface="Comic Neue"/>
              </a:rPr>
              <a:t> vanish, so n = k.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500" y="3238500"/>
            <a:ext cx="2921000" cy="825500"/>
          </a:xfrm>
          <a:prstGeom prst="rect">
            <a:avLst/>
          </a:prstGeom>
          <a:solidFill>
            <a:srgbClr val="EDF2EC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127000" y="3249929"/>
            <a:ext cx="1248171" cy="191770"/>
          </a:xfrm>
          <a:prstGeom prst="rect">
            <a:avLst/>
          </a:prstGeom>
          <a:solidFill>
            <a:srgbClr val="EBDDBE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184150" y="3295944"/>
            <a:ext cx="1342032" cy="17068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960" b="0" i="0">
                <a:solidFill>
                  <a:srgbClr val="2B3A42"/>
                </a:solidFill>
                <a:latin typeface="Bangers"/>
              </a:rPr>
              <a:t>3  OUR STAGED PIPELINE</a:t>
            </a:r>
          </a:p>
        </p:txBody>
      </p:sp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2400" y="3276600"/>
            <a:ext cx="203200" cy="203200"/>
          </a:xfrm>
          <a:prstGeom prst="rect">
            <a:avLst/>
          </a:prstGeom>
        </p:spPr>
      </p:pic>
      <p:sp>
        <p:nvSpPr>
          <p:cNvPr id="134" name="Rounded Rectangle 133"/>
          <p:cNvSpPr/>
          <p:nvPr/>
        </p:nvSpPr>
        <p:spPr>
          <a:xfrm>
            <a:off x="139700" y="3479800"/>
            <a:ext cx="855133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175260" y="3509010"/>
            <a:ext cx="157480" cy="1574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39344" y="3544062"/>
            <a:ext cx="229310" cy="11734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60" b="1" i="0">
                <a:solidFill>
                  <a:srgbClr val="FFFFFF"/>
                </a:solidFill>
                <a:latin typeface="Comic Neue"/>
              </a:rPr>
              <a:t>S1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74650" y="3531870"/>
            <a:ext cx="655603" cy="142239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99" b="1" i="0">
                <a:solidFill>
                  <a:srgbClr val="4F6B75"/>
                </a:solidFill>
                <a:latin typeface="Comic Neue"/>
              </a:rPr>
              <a:t>Articulate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03200" y="3671824"/>
            <a:ext cx="942851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both at different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3200" y="3775964"/>
            <a:ext cx="900622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stages; null 0.5;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3200" y="3880104"/>
            <a:ext cx="864506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exact binomial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010073" y="3746500"/>
            <a:ext cx="711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1096433" y="3479800"/>
            <a:ext cx="855133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1131993" y="3509010"/>
            <a:ext cx="157480" cy="157480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90351" y="3544062"/>
            <a:ext cx="240764" cy="11734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60" b="1" i="0">
                <a:solidFill>
                  <a:srgbClr val="FFFFFF"/>
                </a:solidFill>
                <a:latin typeface="Comic Neue"/>
              </a:rPr>
              <a:t>S2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31383" y="3531870"/>
            <a:ext cx="575401" cy="142239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99" b="1" i="0">
                <a:solidFill>
                  <a:srgbClr val="A0522D"/>
                </a:solidFill>
                <a:latin typeface="Comic Neue"/>
              </a:rPr>
              <a:t>Retrieve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59933" y="3671824"/>
            <a:ext cx="904904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SQL under that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59933" y="3775964"/>
            <a:ext cx="721824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rule returns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59933" y="3880104"/>
            <a:ext cx="820213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1" i="0">
                <a:solidFill>
                  <a:srgbClr val="2B3A42"/>
                </a:solidFill>
                <a:latin typeface="Comic Neue"/>
              </a:rPr>
              <a:t>n = 22, k = 18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1966806" y="3746500"/>
            <a:ext cx="711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2053166" y="3479800"/>
            <a:ext cx="855133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2088726" y="3509010"/>
            <a:ext cx="157480" cy="157480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2047368" y="3544062"/>
            <a:ext cx="240196" cy="11734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60" b="1" i="0">
                <a:solidFill>
                  <a:srgbClr val="FFFFFF"/>
                </a:solidFill>
                <a:latin typeface="Comic Neue"/>
              </a:rPr>
              <a:t>S3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8116" y="3531870"/>
            <a:ext cx="347150" cy="142239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99" b="1" i="0">
                <a:solidFill>
                  <a:srgbClr val="A8812E"/>
                </a:solidFill>
                <a:latin typeface="Comic Neue"/>
              </a:rPr>
              <a:t>Test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116666" y="3671824"/>
            <a:ext cx="864506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exact binomial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16666" y="3775964"/>
            <a:ext cx="621964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p = 0.002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6666" y="3880104"/>
            <a:ext cx="1032779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1" i="0">
                <a:solidFill>
                  <a:srgbClr val="2B3A42"/>
                </a:solidFill>
                <a:latin typeface="Comic Neue"/>
              </a:rPr>
              <a:t>verdict: supported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