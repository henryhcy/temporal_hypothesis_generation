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" cy="4584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" y="63500"/>
            <a:ext cx="2921000" cy="381000"/>
          </a:xfrm>
          <a:prstGeom prst="rect">
            <a:avLst/>
          </a:prstGeom>
          <a:solidFill>
            <a:srgbClr val="F6F0E2"/>
          </a:solidFill>
          <a:ln w="1397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39700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4500" y="123952"/>
            <a:ext cx="2758049" cy="152908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60" b="1" i="0">
                <a:solidFill>
                  <a:srgbClr val="A8812E"/>
                </a:solidFill>
                <a:latin typeface="Comic Neue"/>
              </a:rPr>
              <a:t>Claim: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After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Moderna,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Pain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typically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occurs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500" y="255015"/>
            <a:ext cx="1099980" cy="152908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60" b="1" i="0">
                <a:solidFill>
                  <a:srgbClr val="2B3A42"/>
                </a:solidFill>
                <a:latin typeface="Comic Neue"/>
              </a:rPr>
              <a:t>before</a:t>
            </a:r>
            <a:r>
              <a:rPr sz="860" b="1" i="0">
                <a:solidFill>
                  <a:srgbClr val="2B3A42"/>
                </a:solidFill>
                <a:latin typeface="Comic Neue"/>
              </a:rPr>
              <a:t> Asthenia.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" y="508000"/>
            <a:ext cx="2921000" cy="2032000"/>
          </a:xfrm>
          <a:prstGeom prst="rect">
            <a:avLst/>
          </a:prstGeom>
          <a:solidFill>
            <a:srgbClr val="EEF2F4"/>
          </a:solidFill>
          <a:ln w="1397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27000" y="519430"/>
            <a:ext cx="1382996" cy="191770"/>
          </a:xfrm>
          <a:prstGeom prst="rect">
            <a:avLst/>
          </a:prstGeom>
          <a:solidFill>
            <a:srgbClr val="EBDDBE"/>
          </a:solidFill>
          <a:ln w="1016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84150" y="565444"/>
            <a:ext cx="1498207" cy="170688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960" b="0" i="0">
                <a:solidFill>
                  <a:srgbClr val="2B3A42"/>
                </a:solidFill>
                <a:latin typeface="Bangers"/>
              </a:rPr>
              <a:t>1  WHICH REPORTS COUNT?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5588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800100"/>
            <a:ext cx="139700" cy="139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7500" y="784351"/>
            <a:ext cx="549217" cy="13512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60" b="1" i="0">
                <a:solidFill>
                  <a:srgbClr val="5E8263"/>
                </a:solidFill>
                <a:latin typeface="Comic Neue"/>
              </a:rPr>
              <a:t>counted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" y="891921"/>
            <a:ext cx="573105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Pain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9500" y="80010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20140" y="8661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89990" y="8661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551940" y="88900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651000" y="80010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676400" y="825500"/>
            <a:ext cx="127000" cy="127000"/>
          </a:xfrm>
          <a:prstGeom prst="ellipse">
            <a:avLst/>
          </a:prstGeom>
          <a:solidFill>
            <a:srgbClr val="A0522D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44902" y="841883"/>
            <a:ext cx="189995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P</a:t>
            </a:r>
          </a:p>
        </p:txBody>
      </p:sp>
      <p:sp>
        <p:nvSpPr>
          <p:cNvPr id="20" name="Oval 19"/>
          <p:cNvSpPr/>
          <p:nvPr/>
        </p:nvSpPr>
        <p:spPr>
          <a:xfrm>
            <a:off x="1837689" y="8661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2123440" y="88900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22500" y="80010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2247900" y="825500"/>
            <a:ext cx="127000" cy="127000"/>
          </a:xfrm>
          <a:prstGeom prst="ellipse">
            <a:avLst/>
          </a:prstGeom>
          <a:solidFill>
            <a:srgbClr val="4F6B75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16453" y="841883"/>
            <a:ext cx="189892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2409190" y="8661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047750"/>
            <a:ext cx="139700" cy="139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7500" y="1032001"/>
            <a:ext cx="549217" cy="13512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60" b="1" i="0">
                <a:solidFill>
                  <a:srgbClr val="5E8263"/>
                </a:solidFill>
                <a:latin typeface="Comic Neue"/>
              </a:rPr>
              <a:t>counted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00" y="1139571"/>
            <a:ext cx="787348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Asthenia first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9500" y="104775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04900" y="1073150"/>
            <a:ext cx="127000" cy="127000"/>
          </a:xfrm>
          <a:prstGeom prst="ellipse">
            <a:avLst/>
          </a:prstGeom>
          <a:solidFill>
            <a:srgbClr val="4F6B75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73453" y="1089533"/>
            <a:ext cx="189892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A</a:t>
            </a:r>
          </a:p>
        </p:txBody>
      </p:sp>
      <p:sp>
        <p:nvSpPr>
          <p:cNvPr id="32" name="Oval 31"/>
          <p:cNvSpPr/>
          <p:nvPr/>
        </p:nvSpPr>
        <p:spPr>
          <a:xfrm>
            <a:off x="1266190" y="11137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336040" y="11137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1551940" y="113665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651000" y="104775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691639" y="11137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2123440" y="113665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222500" y="104775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247900" y="1073150"/>
            <a:ext cx="127000" cy="127000"/>
          </a:xfrm>
          <a:prstGeom prst="ellipse">
            <a:avLst/>
          </a:prstGeom>
          <a:solidFill>
            <a:srgbClr val="A0522D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216402" y="1089533"/>
            <a:ext cx="189995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P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295400"/>
            <a:ext cx="139700" cy="1397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17500" y="1279652"/>
            <a:ext cx="593768" cy="13512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60" b="1" i="0">
                <a:solidFill>
                  <a:srgbClr val="A0522D"/>
                </a:solidFill>
                <a:latin typeface="Comic Neue"/>
              </a:rPr>
              <a:t>excluded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7500" y="1387221"/>
            <a:ext cx="698916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same stage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9500" y="129540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104900" y="1320800"/>
            <a:ext cx="127000" cy="127000"/>
          </a:xfrm>
          <a:prstGeom prst="ellipse">
            <a:avLst/>
          </a:prstGeom>
          <a:solidFill>
            <a:srgbClr val="A0522D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3402" y="1337183"/>
            <a:ext cx="189995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P</a:t>
            </a:r>
          </a:p>
        </p:txBody>
      </p:sp>
      <p:sp>
        <p:nvSpPr>
          <p:cNvPr id="47" name="Oval 46"/>
          <p:cNvSpPr/>
          <p:nvPr/>
        </p:nvSpPr>
        <p:spPr>
          <a:xfrm>
            <a:off x="1250950" y="1320800"/>
            <a:ext cx="127000" cy="127000"/>
          </a:xfrm>
          <a:prstGeom prst="ellipse">
            <a:avLst/>
          </a:prstGeom>
          <a:solidFill>
            <a:srgbClr val="4F6B75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19503" y="1337183"/>
            <a:ext cx="189892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51940" y="138430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651000" y="129540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1691639" y="13614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1761489" y="13614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1831339" y="136144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543050"/>
            <a:ext cx="139700" cy="1397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17500" y="1527302"/>
            <a:ext cx="593768" cy="13512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60" b="1" i="0">
                <a:solidFill>
                  <a:srgbClr val="A0522D"/>
                </a:solidFill>
                <a:latin typeface="Comic Neue"/>
              </a:rPr>
              <a:t>excluded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7500" y="1634871"/>
            <a:ext cx="725177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no Asthenia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9500" y="154305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1104900" y="1568450"/>
            <a:ext cx="127000" cy="127000"/>
          </a:xfrm>
          <a:prstGeom prst="ellipse">
            <a:avLst/>
          </a:prstGeom>
          <a:solidFill>
            <a:srgbClr val="A0522D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073402" y="1584833"/>
            <a:ext cx="189995" cy="122682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90" b="1" i="0">
                <a:solidFill>
                  <a:srgbClr val="FFFFFF"/>
                </a:solidFill>
                <a:latin typeface="Comic Neue"/>
              </a:rPr>
              <a:t>P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551940" y="1631950"/>
            <a:ext cx="838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651000" y="1543050"/>
            <a:ext cx="457200" cy="177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1691639" y="16090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761489" y="16090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1831339" y="160909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137160" y="1742440"/>
            <a:ext cx="106680" cy="106680"/>
          </a:xfrm>
          <a:prstGeom prst="ellipse">
            <a:avLst/>
          </a:prstGeom>
          <a:solidFill>
            <a:srgbClr val="A0522D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8700" y="1754123"/>
            <a:ext cx="183598" cy="110236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20" b="1" i="0">
                <a:solidFill>
                  <a:srgbClr val="FFFFFF"/>
                </a:solidFill>
                <a:latin typeface="Comic Neue"/>
              </a:rPr>
              <a:t>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9400" y="1745361"/>
            <a:ext cx="461714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Pain   </a:t>
            </a:r>
          </a:p>
        </p:txBody>
      </p:sp>
      <p:sp>
        <p:nvSpPr>
          <p:cNvPr id="68" name="Oval 67"/>
          <p:cNvSpPr/>
          <p:nvPr/>
        </p:nvSpPr>
        <p:spPr>
          <a:xfrm>
            <a:off x="521632" y="1742440"/>
            <a:ext cx="106680" cy="106680"/>
          </a:xfrm>
          <a:prstGeom prst="ellipse">
            <a:avLst/>
          </a:prstGeom>
          <a:solidFill>
            <a:srgbClr val="4F6B75"/>
          </a:solidFill>
          <a:ln w="635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83225" y="1754123"/>
            <a:ext cx="183495" cy="110236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20" b="1" i="0">
                <a:solidFill>
                  <a:srgbClr val="FFFFFF"/>
                </a:solidFill>
                <a:latin typeface="Comic Neue"/>
              </a:rPr>
              <a:t>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3872" y="1745361"/>
            <a:ext cx="675957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Asthenia   </a:t>
            </a:r>
          </a:p>
        </p:txBody>
      </p:sp>
      <p:sp>
        <p:nvSpPr>
          <p:cNvPr id="71" name="Oval 70"/>
          <p:cNvSpPr/>
          <p:nvPr/>
        </p:nvSpPr>
        <p:spPr>
          <a:xfrm>
            <a:off x="1088687" y="1772920"/>
            <a:ext cx="45720" cy="45720"/>
          </a:xfrm>
          <a:prstGeom prst="ellipse">
            <a:avLst/>
          </a:prstGeom>
          <a:solidFill>
            <a:srgbClr val="A9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75047" y="1745361"/>
            <a:ext cx="1835991" cy="12979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29" b="0" i="0">
                <a:solidFill>
                  <a:srgbClr val="2B3A42"/>
                </a:solidFill>
                <a:latin typeface="Comic Neue"/>
              </a:rPr>
              <a:t>other event;  one box = one stage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9700" y="1923795"/>
            <a:ext cx="2674106" cy="13868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79" b="0" i="0">
                <a:solidFill>
                  <a:srgbClr val="2B3A42"/>
                </a:solidFill>
                <a:latin typeface="Comic Neue"/>
              </a:rPr>
              <a:t>983 Moderna reports; </a:t>
            </a:r>
            <a:r>
              <a:rPr sz="779" b="1" i="0">
                <a:solidFill>
                  <a:srgbClr val="2B3A42"/>
                </a:solidFill>
                <a:latin typeface="Comic Neue"/>
              </a:rPr>
              <a:t>30 mention both events: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9700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3198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32427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16559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50884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0113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693420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8570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87799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970280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6256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15485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247140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33942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43171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524000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616286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708573" y="2197100"/>
            <a:ext cx="92286" cy="114300"/>
          </a:xfrm>
          <a:prstGeom prst="rect">
            <a:avLst/>
          </a:prstGeom>
          <a:solidFill>
            <a:srgbClr val="A052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800860" y="2197100"/>
            <a:ext cx="92286" cy="114300"/>
          </a:xfrm>
          <a:prstGeom prst="rect">
            <a:avLst/>
          </a:prstGeom>
          <a:solidFill>
            <a:srgbClr val="4F6B7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893146" y="2197100"/>
            <a:ext cx="92286" cy="114300"/>
          </a:xfrm>
          <a:prstGeom prst="rect">
            <a:avLst/>
          </a:prstGeom>
          <a:solidFill>
            <a:srgbClr val="4F6B7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985433" y="2197100"/>
            <a:ext cx="92286" cy="114300"/>
          </a:xfrm>
          <a:prstGeom prst="rect">
            <a:avLst/>
          </a:prstGeom>
          <a:solidFill>
            <a:srgbClr val="4F6B7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077720" y="2197100"/>
            <a:ext cx="92286" cy="114300"/>
          </a:xfrm>
          <a:prstGeom prst="rect">
            <a:avLst/>
          </a:prstGeom>
          <a:solidFill>
            <a:srgbClr val="4F6B7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2170006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2262293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2354580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2446866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539153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631440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723726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816013" y="2197100"/>
            <a:ext cx="92286" cy="114300"/>
          </a:xfrm>
          <a:prstGeom prst="rect">
            <a:avLst/>
          </a:prstGeom>
          <a:solidFill>
            <a:srgbClr val="E3DED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39700" y="2197100"/>
            <a:ext cx="2768600" cy="114300"/>
          </a:xfrm>
          <a:prstGeom prst="rect">
            <a:avLst/>
          </a:prstGeom>
          <a:noFill/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Freeform 104"/>
          <p:cNvSpPr/>
          <p:nvPr/>
        </p:nvSpPr>
        <p:spPr>
          <a:xfrm>
            <a:off x="152400" y="2146300"/>
            <a:ext cx="2006600" cy="38100"/>
          </a:xfrm>
          <a:custGeom>
            <a:avLst/>
            <a:gdLst/>
            <a:ahLst/>
            <a:cxnLst/>
            <a:rect l="l" t="t" r="r" b="b"/>
            <a:pathLst>
              <a:path w="158" h="3">
                <a:moveTo>
                  <a:pt x="0" y="3"/>
                </a:moveTo>
                <a:lnTo>
                  <a:pt x="0" y="0"/>
                </a:lnTo>
                <a:lnTo>
                  <a:pt x="158" y="0"/>
                </a:lnTo>
                <a:lnTo>
                  <a:pt x="158" y="3"/>
                </a:lnTo>
              </a:path>
            </a:pathLst>
          </a:custGeom>
          <a:noFill/>
          <a:ln w="1016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00050" y="2038604"/>
            <a:ext cx="1309606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719" b="1" i="0">
                <a:solidFill>
                  <a:srgbClr val="2B3A42"/>
                </a:solidFill>
                <a:latin typeface="Comic Neue"/>
              </a:rPr>
              <a:t>n = 22: different stages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2184400" y="2146300"/>
            <a:ext cx="711200" cy="38100"/>
          </a:xfrm>
          <a:custGeom>
            <a:avLst/>
            <a:gdLst/>
            <a:ahLst/>
            <a:cxnLst/>
            <a:rect l="l" t="t" r="r" b="b"/>
            <a:pathLst>
              <a:path w="56" h="3">
                <a:moveTo>
                  <a:pt x="0" y="3"/>
                </a:moveTo>
                <a:lnTo>
                  <a:pt x="0" y="0"/>
                </a:lnTo>
                <a:lnTo>
                  <a:pt x="56" y="0"/>
                </a:lnTo>
                <a:lnTo>
                  <a:pt x="56" y="3"/>
                </a:lnTo>
              </a:path>
            </a:pathLst>
          </a:custGeom>
          <a:noFill/>
          <a:ln w="10160">
            <a:solidFill>
              <a:srgbClr val="857F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2135702" y="2038604"/>
            <a:ext cx="806902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719" b="1" i="0">
                <a:solidFill>
                  <a:srgbClr val="857F75"/>
                </a:solidFill>
                <a:latin typeface="Comic Neue"/>
              </a:rPr>
              <a:t>8 same stage</a:t>
            </a:r>
          </a:p>
        </p:txBody>
      </p:sp>
      <p:sp>
        <p:nvSpPr>
          <p:cNvPr id="109" name="Freeform 108"/>
          <p:cNvSpPr/>
          <p:nvPr/>
        </p:nvSpPr>
        <p:spPr>
          <a:xfrm>
            <a:off x="152400" y="2324100"/>
            <a:ext cx="1638300" cy="38100"/>
          </a:xfrm>
          <a:custGeom>
            <a:avLst/>
            <a:gdLst/>
            <a:ahLst/>
            <a:cxnLst/>
            <a:rect l="l" t="t" r="r" b="b"/>
            <a:pathLst>
              <a:path w="129" h="3">
                <a:moveTo>
                  <a:pt x="0" y="0"/>
                </a:moveTo>
                <a:lnTo>
                  <a:pt x="0" y="3"/>
                </a:lnTo>
                <a:lnTo>
                  <a:pt x="129" y="3"/>
                </a:lnTo>
                <a:lnTo>
                  <a:pt x="129" y="0"/>
                </a:lnTo>
              </a:path>
            </a:pathLst>
          </a:custGeom>
          <a:noFill/>
          <a:ln w="1016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87490" y="2373884"/>
            <a:ext cx="965579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719" b="1" i="0">
                <a:solidFill>
                  <a:srgbClr val="A0522D"/>
                </a:solidFill>
                <a:latin typeface="Comic Neue"/>
              </a:rPr>
              <a:t>k = 18: Pain first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1803400" y="23241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28" h="3">
                <a:moveTo>
                  <a:pt x="0" y="0"/>
                </a:moveTo>
                <a:lnTo>
                  <a:pt x="0" y="3"/>
                </a:lnTo>
                <a:lnTo>
                  <a:pt x="28" y="3"/>
                </a:lnTo>
                <a:lnTo>
                  <a:pt x="28" y="0"/>
                </a:lnTo>
              </a:path>
            </a:pathLst>
          </a:custGeom>
          <a:noFill/>
          <a:ln w="10160">
            <a:solidFill>
              <a:srgbClr val="4F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1704414" y="2373884"/>
            <a:ext cx="562038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719" b="1" i="0">
                <a:solidFill>
                  <a:srgbClr val="4F6B75"/>
                </a:solidFill>
                <a:latin typeface="Comic Neue"/>
              </a:rPr>
              <a:t>4: A first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500" y="2603500"/>
            <a:ext cx="2921000" cy="889000"/>
          </a:xfrm>
          <a:prstGeom prst="rect">
            <a:avLst/>
          </a:prstGeom>
          <a:solidFill>
            <a:srgbClr val="F6ECE6"/>
          </a:solidFill>
          <a:ln w="1397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27000" y="2614930"/>
            <a:ext cx="1342470" cy="191770"/>
          </a:xfrm>
          <a:prstGeom prst="rect">
            <a:avLst/>
          </a:prstGeom>
          <a:solidFill>
            <a:srgbClr val="EBDDBE"/>
          </a:solidFill>
          <a:ln w="1016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84150" y="2660944"/>
            <a:ext cx="1449425" cy="170688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960" b="0" i="0">
                <a:solidFill>
                  <a:srgbClr val="2B3A42"/>
                </a:solidFill>
                <a:latin typeface="Bangers"/>
              </a:rPr>
              <a:t>2  A ONE-QUERY BASELINE</a:t>
            </a:r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" y="2870200"/>
            <a:ext cx="279400" cy="279400"/>
          </a:xfrm>
          <a:prstGeom prst="rect">
            <a:avLst/>
          </a:prstGeom>
        </p:spPr>
      </p:pic>
      <p:sp>
        <p:nvSpPr>
          <p:cNvPr id="117" name="Freeform 116"/>
          <p:cNvSpPr/>
          <p:nvPr/>
        </p:nvSpPr>
        <p:spPr>
          <a:xfrm>
            <a:off x="431800" y="2870200"/>
            <a:ext cx="2476500" cy="215900"/>
          </a:xfrm>
          <a:custGeom>
            <a:avLst/>
            <a:gdLst/>
            <a:ahLst/>
            <a:cxnLst/>
            <a:rect l="l" t="t" r="r" b="b"/>
            <a:pathLst>
              <a:path w="195" h="17">
                <a:moveTo>
                  <a:pt x="12" y="0"/>
                </a:moveTo>
                <a:lnTo>
                  <a:pt x="188" y="0"/>
                </a:lnTo>
                <a:lnTo>
                  <a:pt x="191" y="0"/>
                </a:lnTo>
                <a:lnTo>
                  <a:pt x="192" y="1"/>
                </a:lnTo>
                <a:lnTo>
                  <a:pt x="194" y="3"/>
                </a:lnTo>
                <a:lnTo>
                  <a:pt x="195" y="4"/>
                </a:lnTo>
                <a:lnTo>
                  <a:pt x="195" y="7"/>
                </a:lnTo>
                <a:lnTo>
                  <a:pt x="195" y="10"/>
                </a:lnTo>
                <a:lnTo>
                  <a:pt x="195" y="13"/>
                </a:lnTo>
                <a:lnTo>
                  <a:pt x="194" y="14"/>
                </a:lnTo>
                <a:lnTo>
                  <a:pt x="192" y="16"/>
                </a:lnTo>
                <a:lnTo>
                  <a:pt x="191" y="17"/>
                </a:lnTo>
                <a:lnTo>
                  <a:pt x="188" y="17"/>
                </a:lnTo>
                <a:lnTo>
                  <a:pt x="12" y="17"/>
                </a:lnTo>
                <a:lnTo>
                  <a:pt x="9" y="17"/>
                </a:lnTo>
                <a:lnTo>
                  <a:pt x="8" y="16"/>
                </a:lnTo>
                <a:lnTo>
                  <a:pt x="6" y="14"/>
                </a:lnTo>
                <a:lnTo>
                  <a:pt x="5" y="13"/>
                </a:lnTo>
                <a:lnTo>
                  <a:pt x="5" y="10"/>
                </a:lnTo>
                <a:lnTo>
                  <a:pt x="5" y="11"/>
                </a:lnTo>
                <a:lnTo>
                  <a:pt x="0" y="9"/>
                </a:lnTo>
                <a:lnTo>
                  <a:pt x="5" y="6"/>
                </a:lnTo>
                <a:lnTo>
                  <a:pt x="5" y="7"/>
                </a:lnTo>
                <a:lnTo>
                  <a:pt x="5" y="4"/>
                </a:lnTo>
                <a:lnTo>
                  <a:pt x="6" y="3"/>
                </a:lnTo>
                <a:lnTo>
                  <a:pt x="8" y="1"/>
                </a:lnTo>
                <a:lnTo>
                  <a:pt x="9" y="0"/>
                </a:lnTo>
                <a:lnTo>
                  <a:pt x="12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84200" y="2918714"/>
            <a:ext cx="2552164" cy="14579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19" b="0" i="0">
                <a:solidFill>
                  <a:srgbClr val="2B3A42"/>
                </a:solidFill>
                <a:latin typeface="Comic Neue"/>
              </a:rPr>
              <a:t>“I count a report only if </a:t>
            </a:r>
            <a:r>
              <a:rPr sz="819" b="1" i="0">
                <a:solidFill>
                  <a:srgbClr val="A0522D"/>
                </a:solidFill>
                <a:latin typeface="Comic Neue"/>
              </a:rPr>
              <a:t>Pain comes first</a:t>
            </a:r>
            <a:r>
              <a:rPr sz="819" b="0" i="0">
                <a:solidFill>
                  <a:srgbClr val="2B3A42"/>
                </a:solidFill>
                <a:latin typeface="Comic Neue"/>
              </a:rPr>
              <a:t>.”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39700" y="3162300"/>
            <a:ext cx="741259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90500" y="3182264"/>
            <a:ext cx="904156" cy="14579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19" b="1" i="0">
                <a:solidFill>
                  <a:srgbClr val="A0522D"/>
                </a:solidFill>
                <a:latin typeface="Comic Neue"/>
              </a:rPr>
              <a:t>n = 18, k = 18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900009" y="3238500"/>
            <a:ext cx="7620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995259" y="3162300"/>
            <a:ext cx="605218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1046059" y="3182264"/>
            <a:ext cx="762635" cy="14579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19" b="0" i="0">
                <a:solidFill>
                  <a:srgbClr val="2B3A42"/>
                </a:solidFill>
                <a:latin typeface="Comic Neue"/>
              </a:rPr>
              <a:t>p &lt; 0.0001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619528" y="3238500"/>
            <a:ext cx="7620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714778" y="3162300"/>
            <a:ext cx="552424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765578" y="3182264"/>
            <a:ext cx="696001" cy="14579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819" b="0" i="0">
                <a:solidFill>
                  <a:srgbClr val="2B3A42"/>
                </a:solidFill>
                <a:latin typeface="Comic Neue"/>
              </a:rPr>
              <a:t>supported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2565400" y="3073400"/>
            <a:ext cx="342900" cy="330200"/>
          </a:xfrm>
          <a:custGeom>
            <a:avLst/>
            <a:gdLst/>
            <a:ahLst/>
            <a:cxnLst/>
            <a:rect l="l" t="t" r="r" b="b"/>
            <a:pathLst>
              <a:path w="27" h="26">
                <a:moveTo>
                  <a:pt x="27" y="16"/>
                </a:moveTo>
                <a:lnTo>
                  <a:pt x="22" y="17"/>
                </a:lnTo>
                <a:lnTo>
                  <a:pt x="24" y="22"/>
                </a:lnTo>
                <a:lnTo>
                  <a:pt x="18" y="20"/>
                </a:lnTo>
                <a:lnTo>
                  <a:pt x="17" y="26"/>
                </a:lnTo>
                <a:lnTo>
                  <a:pt x="14" y="22"/>
                </a:lnTo>
                <a:lnTo>
                  <a:pt x="10" y="26"/>
                </a:lnTo>
                <a:lnTo>
                  <a:pt x="9" y="20"/>
                </a:lnTo>
                <a:lnTo>
                  <a:pt x="3" y="21"/>
                </a:lnTo>
                <a:lnTo>
                  <a:pt x="6" y="16"/>
                </a:lnTo>
                <a:lnTo>
                  <a:pt x="0" y="14"/>
                </a:lnTo>
                <a:lnTo>
                  <a:pt x="6" y="11"/>
                </a:lnTo>
                <a:lnTo>
                  <a:pt x="2" y="7"/>
                </a:lnTo>
                <a:lnTo>
                  <a:pt x="8" y="7"/>
                </a:lnTo>
                <a:lnTo>
                  <a:pt x="7" y="1"/>
                </a:lnTo>
                <a:lnTo>
                  <a:pt x="12" y="5"/>
                </a:lnTo>
                <a:lnTo>
                  <a:pt x="15" y="0"/>
                </a:lnTo>
                <a:lnTo>
                  <a:pt x="17" y="5"/>
                </a:lnTo>
                <a:lnTo>
                  <a:pt x="22" y="2"/>
                </a:lnTo>
                <a:lnTo>
                  <a:pt x="21" y="8"/>
                </a:lnTo>
                <a:lnTo>
                  <a:pt x="27" y="8"/>
                </a:lnTo>
                <a:lnTo>
                  <a:pt x="22" y="12"/>
                </a:lnTo>
                <a:close/>
              </a:path>
            </a:pathLst>
          </a:custGeom>
          <a:solidFill>
            <a:srgbClr val="EBDDBE"/>
          </a:solidFill>
          <a:ln w="1143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2556287" y="3189130"/>
            <a:ext cx="373824" cy="138684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780" b="0" i="0">
                <a:solidFill>
                  <a:srgbClr val="A0522D"/>
                </a:solidFill>
                <a:latin typeface="Bangers"/>
              </a:rPr>
              <a:t>n = k!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9700" y="3339846"/>
            <a:ext cx="2536350" cy="138683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79" b="0" i="0">
                <a:solidFill>
                  <a:srgbClr val="2B3A42"/>
                </a:solidFill>
                <a:latin typeface="Comic Neue"/>
              </a:rPr>
              <a:t>The </a:t>
            </a:r>
            <a:r>
              <a:rPr sz="779" b="1" i="0">
                <a:solidFill>
                  <a:srgbClr val="4F6B75"/>
                </a:solidFill>
                <a:latin typeface="Comic Neue"/>
              </a:rPr>
              <a:t>4 Asthenia-first reports</a:t>
            </a:r>
            <a:r>
              <a:rPr sz="779" b="0" i="0">
                <a:solidFill>
                  <a:srgbClr val="2B3A42"/>
                </a:solidFill>
                <a:latin typeface="Comic Neue"/>
              </a:rPr>
              <a:t> vanish, so n = k.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500" y="3556000"/>
            <a:ext cx="2921000" cy="965200"/>
          </a:xfrm>
          <a:prstGeom prst="rect">
            <a:avLst/>
          </a:prstGeom>
          <a:solidFill>
            <a:srgbClr val="EDF2EC"/>
          </a:solidFill>
          <a:ln w="1397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27000" y="3567429"/>
            <a:ext cx="1248171" cy="191770"/>
          </a:xfrm>
          <a:prstGeom prst="rect">
            <a:avLst/>
          </a:prstGeom>
          <a:solidFill>
            <a:srgbClr val="EBDDBE"/>
          </a:solidFill>
          <a:ln w="10160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84150" y="3613444"/>
            <a:ext cx="1342032" cy="170688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960" b="0" i="0">
                <a:solidFill>
                  <a:srgbClr val="2B3A42"/>
                </a:solidFill>
                <a:latin typeface="Bangers"/>
              </a:rPr>
              <a:t>3  OUR STAGED PIPELINE</a:t>
            </a:r>
          </a:p>
        </p:txBody>
      </p:sp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3594100"/>
            <a:ext cx="203200" cy="203200"/>
          </a:xfrm>
          <a:prstGeom prst="rect">
            <a:avLst/>
          </a:prstGeom>
        </p:spPr>
      </p:pic>
      <p:sp>
        <p:nvSpPr>
          <p:cNvPr id="134" name="Rounded Rectangle 133"/>
          <p:cNvSpPr/>
          <p:nvPr/>
        </p:nvSpPr>
        <p:spPr>
          <a:xfrm>
            <a:off x="139700" y="3810000"/>
            <a:ext cx="855133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172720" y="3843020"/>
            <a:ext cx="162560" cy="162560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39344" y="3881882"/>
            <a:ext cx="229310" cy="11734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Comic Neue"/>
              </a:rPr>
              <a:t>S1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4650" y="3868420"/>
            <a:ext cx="655603" cy="142239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99" b="1" i="0">
                <a:solidFill>
                  <a:srgbClr val="4F6B75"/>
                </a:solidFill>
                <a:latin typeface="Comic Neue"/>
              </a:rPr>
              <a:t>Articulate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3200" y="4032504"/>
            <a:ext cx="942851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both at different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3200" y="4141724"/>
            <a:ext cx="900622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stages; null 0.5;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3200" y="4250944"/>
            <a:ext cx="864506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exact binomial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010073" y="4127500"/>
            <a:ext cx="711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1096433" y="3810000"/>
            <a:ext cx="855133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1129453" y="3843020"/>
            <a:ext cx="162560" cy="162560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90351" y="3881882"/>
            <a:ext cx="240764" cy="11734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Comic Neue"/>
              </a:rPr>
              <a:t>S2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31383" y="3868420"/>
            <a:ext cx="575401" cy="142239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99" b="1" i="0">
                <a:solidFill>
                  <a:srgbClr val="A0522D"/>
                </a:solidFill>
                <a:latin typeface="Comic Neue"/>
              </a:rPr>
              <a:t>Retrieve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59933" y="4032504"/>
            <a:ext cx="904904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SQL under that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59933" y="4141724"/>
            <a:ext cx="721824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rule returns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59933" y="4250944"/>
            <a:ext cx="820213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1" i="0">
                <a:solidFill>
                  <a:srgbClr val="2B3A42"/>
                </a:solidFill>
                <a:latin typeface="Comic Neue"/>
              </a:rPr>
              <a:t>n = 22, k = 18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966806" y="4127500"/>
            <a:ext cx="71120" cy="0"/>
          </a:xfrm>
          <a:prstGeom prst="line">
            <a:avLst/>
          </a:prstGeom>
          <a:ln w="11430">
            <a:solidFill>
              <a:srgbClr val="2B3A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2053166" y="3810000"/>
            <a:ext cx="855133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B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2086186" y="3843020"/>
            <a:ext cx="162560" cy="162560"/>
          </a:xfrm>
          <a:prstGeom prst="ellipse">
            <a:avLst/>
          </a:prstGeom>
          <a:solidFill>
            <a:srgbClr val="A88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2047368" y="3881882"/>
            <a:ext cx="240196" cy="117347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Comic Neue"/>
              </a:rPr>
              <a:t>S3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88116" y="3868420"/>
            <a:ext cx="347150" cy="142239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99" b="1" i="0">
                <a:solidFill>
                  <a:srgbClr val="A8812E"/>
                </a:solidFill>
                <a:latin typeface="Comic Neue"/>
              </a:rPr>
              <a:t>Test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116666" y="4032504"/>
            <a:ext cx="864506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exact binomial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16666" y="4141724"/>
            <a:ext cx="621964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0" i="0">
                <a:solidFill>
                  <a:srgbClr val="2B3A42"/>
                </a:solidFill>
                <a:latin typeface="Comic Neue"/>
              </a:rPr>
              <a:t>p = 0.002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6666" y="4250944"/>
            <a:ext cx="1032779" cy="128015"/>
          </a:xfrm>
          <a:prstGeom prst="rect">
            <a:avLst/>
          </a:prstGeom>
          <a:noFill/>
        </p:spPr>
        <p:txBody>
          <a:bodyPr wrap="square" lIns="1" rIns="1" tIns="1" bIns="1" anchor="t">
            <a:spAutoFit/>
          </a:bodyPr>
          <a:lstStyle/>
          <a:p>
            <a:pPr algn="l"/>
            <a:r>
              <a:rPr sz="719" b="1" i="0">
                <a:solidFill>
                  <a:srgbClr val="2B3A42"/>
                </a:solidFill>
                <a:latin typeface="Comic Neue"/>
              </a:rPr>
              <a:t>verdict: supported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